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lakshmi Varadhan" userId="9b5b1c1e-0675-4756-940d-1c8b2b003912" providerId="ADAL" clId="{6E446FE1-E9AB-4E3F-A3E2-84653D3C5D8B}"/>
    <pc:docChg chg="modSld">
      <pc:chgData name="Mahalakshmi Varadhan" userId="9b5b1c1e-0675-4756-940d-1c8b2b003912" providerId="ADAL" clId="{6E446FE1-E9AB-4E3F-A3E2-84653D3C5D8B}" dt="2026-10-08T14:45:57.244" v="0" actId="1036"/>
      <pc:docMkLst>
        <pc:docMk/>
      </pc:docMkLst>
      <pc:sldChg chg="modSp mod">
        <pc:chgData name="Mahalakshmi Varadhan" userId="9b5b1c1e-0675-4756-940d-1c8b2b003912" providerId="ADAL" clId="{6E446FE1-E9AB-4E3F-A3E2-84653D3C5D8B}" dt="2026-10-08T14:45:57.244" v="0" actId="1036"/>
        <pc:sldMkLst>
          <pc:docMk/>
          <pc:sldMk cId="0" sldId="257"/>
        </pc:sldMkLst>
        <pc:spChg chg="mod">
          <ac:chgData name="Mahalakshmi Varadhan" userId="9b5b1c1e-0675-4756-940d-1c8b2b003912" providerId="ADAL" clId="{6E446FE1-E9AB-4E3F-A3E2-84653D3C5D8B}" dt="2026-10-08T14:45:57.244" v="0" actId="1036"/>
          <ac:spMkLst>
            <pc:docMk/>
            <pc:sldMk cId="0" sldId="257"/>
            <ac:spMk id="48" creationId="{00000000-0000-0000-0000-000000000000}"/>
          </ac:spMkLst>
        </pc:spChg>
      </pc:sldChg>
    </pc:docChg>
  </pc:docChgLst>
  <pc:docChgLst>
    <pc:chgData name="Mahalakshmi Varadhan" userId="S::2000143785@hexaware.com::9b5b1c1e-0675-4756-940d-1c8b2b003912" providerId="AD" clId="Web-{3392DADA-A477-2C1A-7AAD-A6CEDD7DDF2C}"/>
    <pc:docChg chg="modSld">
      <pc:chgData name="Mahalakshmi Varadhan" userId="S::2000143785@hexaware.com::9b5b1c1e-0675-4756-940d-1c8b2b003912" providerId="AD" clId="Web-{3392DADA-A477-2C1A-7AAD-A6CEDD7DDF2C}" dt="2026-10-07T14:23:02.849" v="0" actId="20577"/>
      <pc:docMkLst>
        <pc:docMk/>
      </pc:docMkLst>
      <pc:sldChg chg="modSp">
        <pc:chgData name="Mahalakshmi Varadhan" userId="S::2000143785@hexaware.com::9b5b1c1e-0675-4756-940d-1c8b2b003912" providerId="AD" clId="Web-{3392DADA-A477-2C1A-7AAD-A6CEDD7DDF2C}" dt="2026-10-07T14:23:02.849" v="0" actId="20577"/>
        <pc:sldMkLst>
          <pc:docMk/>
          <pc:sldMk cId="0" sldId="260"/>
        </pc:sldMkLst>
        <pc:spChg chg="mod">
          <ac:chgData name="Mahalakshmi Varadhan" userId="S::2000143785@hexaware.com::9b5b1c1e-0675-4756-940d-1c8b2b003912" providerId="AD" clId="Web-{3392DADA-A477-2C1A-7AAD-A6CEDD7DDF2C}" dt="2026-10-07T14:23:02.849" v="0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9C382-8B43-4AA3-843F-039F70552DF1}" type="datetimeFigureOut"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ABAF80-C3C8-47EC-9848-A2EA2A6A1B4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31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40D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40D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12064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040D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Hexaware  |  Two Labs Compliance Platform  |  Confidential, prepared for Envision Pharma Group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359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359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1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737360"/>
            <a:ext cx="6949440" cy="6949440"/>
          </a:xfrm>
          <a:prstGeom prst="ellipse">
            <a:avLst/>
          </a:prstGeom>
          <a:solidFill>
            <a:srgbClr val="3C2CDA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3017520"/>
            <a:ext cx="4754880" cy="4754880"/>
          </a:xfrm>
          <a:prstGeom prst="ellipse">
            <a:avLst/>
          </a:prstGeom>
          <a:solidFill>
            <a:srgbClr val="14CBD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766560" y="4206240"/>
            <a:ext cx="2194560" cy="2194560"/>
          </a:xfrm>
          <a:prstGeom prst="ellipse">
            <a:avLst/>
          </a:prstGeom>
          <a:solidFill>
            <a:srgbClr val="F4CB4E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14C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HEXAWARE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|  RESPONSE TO THE ENVISION PHARMA GROUP RFP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Labs Compliance Platform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B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solution, the two core process flows and the features each user group receives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669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Hexaware Technologies  |  Life Sciences Solutions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due Monday, October 19, 2026  |  Confidential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384048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07125E"/>
          </a:solidFill>
          <a:ln w="12700">
            <a:solidFill>
              <a:srgbClr val="5359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95360" y="3950208"/>
            <a:ext cx="548640" cy="54864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493" y="4098341"/>
            <a:ext cx="252374" cy="25237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326880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Licensing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12480" y="480060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07125E"/>
          </a:solidFill>
          <a:ln w="12700">
            <a:solidFill>
              <a:srgbClr val="5359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595360" y="4910328"/>
            <a:ext cx="548640" cy="54864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493" y="5058461"/>
            <a:ext cx="252374" cy="25237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326880" y="4800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Price Transparency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1206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0D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two subscription modules and a shared core, delivered in 14 months and in three stages of user access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70332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703320" cy="73152"/>
          </a:xfrm>
          <a:prstGeom prst="rect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08" y="1827428"/>
            <a:ext cx="231343" cy="2313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Licensing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984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capability areas, 85 requirements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423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determination by state, product and facility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checklists and fee schedules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deficiencies and filing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Renewals, changes and calendar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and document repository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931920"/>
            <a:ext cx="3337560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31520" y="400507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licences  |  ~250 client orgs  |  ~5,000 change tasks a year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89120" y="1481328"/>
            <a:ext cx="370332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89120" y="1481328"/>
            <a:ext cx="3703320" cy="73152"/>
          </a:xfrm>
          <a:prstGeom prst="rect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788" y="1827428"/>
            <a:ext cx="231343" cy="23134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120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Price Transparency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212080" y="1984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capability areas, 80 requirements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0" y="2423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product intake (WAC, NDC)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and trigger assessment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and analyst overrides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reports, due dates and tracking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and rule library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0" y="3931920"/>
            <a:ext cx="3337560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4572000" y="400507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states  |  ~1,000 NDCs  |  65 to 70 clients  |  2 to 3 major rule changes a year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48640" y="4681728"/>
            <a:ext cx="7543800" cy="1554480"/>
          </a:xfrm>
          <a:prstGeom prst="roundRect">
            <a:avLst>
              <a:gd name="adj" fmla="val 3529"/>
            </a:avLst>
          </a:prstGeom>
          <a:solidFill>
            <a:srgbClr val="E9E7FD"/>
          </a:solidFill>
          <a:ln w="12700">
            <a:solidFill>
              <a:srgbClr val="E9E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31520" y="4828032"/>
            <a:ext cx="502920" cy="502920"/>
          </a:xfrm>
          <a:prstGeom prst="ellipse">
            <a:avLst/>
          </a:prstGeom>
          <a:solidFill>
            <a:srgbClr val="040D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08" y="4963820"/>
            <a:ext cx="231343" cy="23134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41732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core: 6 areas plus non functional requirements (28 in all)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1417320" y="513892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roles, client and project management, document service, calendar and alerts, reporting, audit ledger. Multi tenant, encrypted, available on AWS US regions, with MFA sign in.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1417320" y="576072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 txBox="1"/>
          <p:nvPr/>
        </p:nvSpPr>
        <p:spPr>
          <a:xfrm>
            <a:off x="1463040" y="5760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held as dated data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044952" y="576072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3090672" y="5760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672584" y="576072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4718304" y="5760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300216" y="576072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6345936" y="5760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reviewed decisions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8275320" y="1481328"/>
            <a:ext cx="336499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8458200" y="16002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USER ACCESS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8458200" y="1947672"/>
            <a:ext cx="347472" cy="347472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845820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8915400" y="1920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staff use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8458200" y="2478024"/>
            <a:ext cx="347472" cy="347472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 txBox="1"/>
          <p:nvPr/>
        </p:nvSpPr>
        <p:spPr>
          <a:xfrm>
            <a:off x="845820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8915400" y="24505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 and uploads</a:t>
            </a:r>
            <a:endParaRPr lang="en-US" sz="1200" dirty="0"/>
          </a:p>
        </p:txBody>
      </p:sp>
      <p:sp>
        <p:nvSpPr>
          <p:cNvPr id="43" name="Shape 38"/>
          <p:cNvSpPr/>
          <p:nvPr/>
        </p:nvSpPr>
        <p:spPr>
          <a:xfrm>
            <a:off x="8458200" y="3008376"/>
            <a:ext cx="347472" cy="347472"/>
          </a:xfrm>
          <a:prstGeom prst="ellipse">
            <a:avLst/>
          </a:prstGeom>
          <a:solidFill>
            <a:srgbClr val="DDE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 txBox="1"/>
          <p:nvPr/>
        </p:nvSpPr>
        <p:spPr>
          <a:xfrm>
            <a:off x="845820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0"/>
          <p:cNvSpPr txBox="1"/>
          <p:nvPr/>
        </p:nvSpPr>
        <p:spPr>
          <a:xfrm>
            <a:off x="8915400" y="29809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client self service (future)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8275320" y="3721608"/>
            <a:ext cx="336499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 txBox="1"/>
          <p:nvPr/>
        </p:nvSpPr>
        <p:spPr>
          <a:xfrm>
            <a:off x="8458200" y="38404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EDGE OF SCOPE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8458200" y="4124227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and compendia data is licensed by EPG directly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submission to states is a future adapter; analysts file today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optional groups are priced separately, such as SSO and configurable alerts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and recovery targets to be agreed with EPG</a:t>
            </a:r>
            <a:endParaRPr lang="en-US" sz="11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359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1206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0D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modular platform where users, rules and documents meet in one shared core, so each module adds capability without rebuilding it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21031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10512"/>
            <a:ext cx="475488" cy="47548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1938894"/>
            <a:ext cx="218724" cy="2187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792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(SL, DPT)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0665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to day work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70048" y="2057400"/>
            <a:ext cx="237744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487168"/>
            <a:ext cx="21031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" y="2578608"/>
            <a:ext cx="475488" cy="47548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2706990"/>
            <a:ext cx="218724" cy="2187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560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188720" y="2834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owners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670048" y="2825496"/>
            <a:ext cx="237744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640" y="3255264"/>
            <a:ext cx="21031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40080" y="3346704"/>
            <a:ext cx="475488" cy="47548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62" y="3475086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33284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staff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1188720" y="3602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updates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670048" y="3593592"/>
            <a:ext cx="237744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48640" y="4023360"/>
            <a:ext cx="21031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40080" y="4114800"/>
            <a:ext cx="475488" cy="47548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462" y="4243182"/>
            <a:ext cx="218724" cy="2187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188720" y="4096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1188720" y="4370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configuration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2670048" y="4361688"/>
            <a:ext cx="237744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548640" y="4791456"/>
            <a:ext cx="21031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40080" y="4882896"/>
            <a:ext cx="475488" cy="475488"/>
          </a:xfrm>
          <a:prstGeom prst="ellipse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462" y="5011278"/>
            <a:ext cx="218724" cy="21872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188720" y="4864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users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1188720" y="51389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Contact, admin, contributors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2670048" y="5129784"/>
            <a:ext cx="237744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2926080" y="1481328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1F2F8"/>
          </a:solidFill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3108960" y="15544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LABS COMPLIANCE PLATFORM  |  MULTI TENANT, AWS US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3108960" y="1847088"/>
            <a:ext cx="1627632" cy="365760"/>
          </a:xfrm>
          <a:prstGeom prst="roundRect">
            <a:avLst>
              <a:gd name="adj" fmla="val 12500"/>
            </a:avLst>
          </a:prstGeom>
          <a:solidFill>
            <a:srgbClr val="3C2CDA"/>
          </a:solidFill>
          <a:ln w="1270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 txBox="1"/>
          <p:nvPr/>
        </p:nvSpPr>
        <p:spPr>
          <a:xfrm>
            <a:off x="3154680" y="18470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workbench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4809744" y="1847088"/>
            <a:ext cx="1627632" cy="365760"/>
          </a:xfrm>
          <a:prstGeom prst="roundRect">
            <a:avLst>
              <a:gd name="adj" fmla="val 12500"/>
            </a:avLst>
          </a:prstGeom>
          <a:solidFill>
            <a:srgbClr val="3C2CDA"/>
          </a:solidFill>
          <a:ln w="1270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 txBox="1"/>
          <p:nvPr/>
        </p:nvSpPr>
        <p:spPr>
          <a:xfrm>
            <a:off x="4855464" y="18470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510528" y="1847088"/>
            <a:ext cx="1627632" cy="365760"/>
          </a:xfrm>
          <a:prstGeom prst="roundRect">
            <a:avLst>
              <a:gd name="adj" fmla="val 12500"/>
            </a:avLst>
          </a:prstGeom>
          <a:solidFill>
            <a:srgbClr val="3C2CDA"/>
          </a:solidFill>
          <a:ln w="1270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 txBox="1"/>
          <p:nvPr/>
        </p:nvSpPr>
        <p:spPr>
          <a:xfrm>
            <a:off x="6556248" y="184708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3108960" y="2359152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3200400" y="2432304"/>
            <a:ext cx="365760" cy="36576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155" y="2531059"/>
            <a:ext cx="168250" cy="168250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3657600" y="243230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Licensing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3218688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Determination, forms, filing, renewals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5669280" y="2359152"/>
            <a:ext cx="24688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5760720" y="2432304"/>
            <a:ext cx="365760" cy="365760"/>
          </a:xfrm>
          <a:prstGeom prst="ellipse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9475" y="2531059"/>
            <a:ext cx="168250" cy="16825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6217920" y="243230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Price Transparency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5779008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thresholds, scenarios, reports</a:t>
            </a:r>
            <a:endParaRPr lang="en-US" sz="1050" dirty="0"/>
          </a:p>
        </p:txBody>
      </p:sp>
      <p:sp>
        <p:nvSpPr>
          <p:cNvPr id="53" name="Text 44"/>
          <p:cNvSpPr txBox="1"/>
          <p:nvPr/>
        </p:nvSpPr>
        <p:spPr>
          <a:xfrm>
            <a:off x="3108960" y="3566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3108960" y="3767328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5848E8"/>
          </a:solidFill>
          <a:ln w="12700">
            <a:solidFill>
              <a:srgbClr val="584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6"/>
          <p:cNvSpPr txBox="1"/>
          <p:nvPr/>
        </p:nvSpPr>
        <p:spPr>
          <a:xfrm>
            <a:off x="3154680" y="37673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4809744" y="3767328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5848E8"/>
          </a:solidFill>
          <a:ln w="12700">
            <a:solidFill>
              <a:srgbClr val="584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8"/>
          <p:cNvSpPr txBox="1"/>
          <p:nvPr/>
        </p:nvSpPr>
        <p:spPr>
          <a:xfrm>
            <a:off x="4855464" y="37673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6510528" y="3767328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5848E8"/>
          </a:solidFill>
          <a:ln w="12700">
            <a:solidFill>
              <a:srgbClr val="584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0"/>
          <p:cNvSpPr txBox="1"/>
          <p:nvPr/>
        </p:nvSpPr>
        <p:spPr>
          <a:xfrm>
            <a:off x="6556248" y="37673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service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3108960" y="4169664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5848E8"/>
          </a:solidFill>
          <a:ln w="12700">
            <a:solidFill>
              <a:srgbClr val="584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2"/>
          <p:cNvSpPr txBox="1"/>
          <p:nvPr/>
        </p:nvSpPr>
        <p:spPr>
          <a:xfrm>
            <a:off x="3154680" y="416966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and alerts</a:t>
            </a:r>
            <a:endParaRPr lang="en-US" sz="1000" dirty="0"/>
          </a:p>
        </p:txBody>
      </p:sp>
      <p:sp>
        <p:nvSpPr>
          <p:cNvPr id="62" name="Shape 53"/>
          <p:cNvSpPr/>
          <p:nvPr/>
        </p:nvSpPr>
        <p:spPr>
          <a:xfrm>
            <a:off x="4809744" y="4169664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5848E8"/>
          </a:solidFill>
          <a:ln w="12700">
            <a:solidFill>
              <a:srgbClr val="584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4"/>
          <p:cNvSpPr txBox="1"/>
          <p:nvPr/>
        </p:nvSpPr>
        <p:spPr>
          <a:xfrm>
            <a:off x="4855464" y="416966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64" name="Shape 55"/>
          <p:cNvSpPr/>
          <p:nvPr/>
        </p:nvSpPr>
        <p:spPr>
          <a:xfrm>
            <a:off x="6510528" y="4169664"/>
            <a:ext cx="1627632" cy="347472"/>
          </a:xfrm>
          <a:prstGeom prst="roundRect">
            <a:avLst>
              <a:gd name="adj" fmla="val 13158"/>
            </a:avLst>
          </a:prstGeom>
          <a:solidFill>
            <a:srgbClr val="5848E8"/>
          </a:solidFill>
          <a:ln w="12700">
            <a:solidFill>
              <a:srgbClr val="584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6"/>
          <p:cNvSpPr txBox="1"/>
          <p:nvPr/>
        </p:nvSpPr>
        <p:spPr>
          <a:xfrm>
            <a:off x="6556248" y="416966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adapters</a:t>
            </a:r>
            <a:endParaRPr lang="en-US" sz="1000" dirty="0"/>
          </a:p>
        </p:txBody>
      </p:sp>
      <p:sp>
        <p:nvSpPr>
          <p:cNvPr id="66" name="Text 57"/>
          <p:cNvSpPr txBox="1"/>
          <p:nvPr/>
        </p:nvSpPr>
        <p:spPr>
          <a:xfrm>
            <a:off x="3108960" y="4617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TRUST</a:t>
            </a:r>
            <a:endParaRPr lang="en-US" sz="950" dirty="0"/>
          </a:p>
        </p:txBody>
      </p:sp>
      <p:sp>
        <p:nvSpPr>
          <p:cNvPr id="67" name="Shape 58"/>
          <p:cNvSpPr/>
          <p:nvPr/>
        </p:nvSpPr>
        <p:spPr>
          <a:xfrm>
            <a:off x="3108960" y="4818888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7125E"/>
          </a:solidFill>
          <a:ln w="127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59"/>
          <p:cNvSpPr txBox="1"/>
          <p:nvPr/>
        </p:nvSpPr>
        <p:spPr>
          <a:xfrm>
            <a:off x="3154680" y="48188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by tenant</a:t>
            </a:r>
            <a:endParaRPr lang="en-US" sz="950" dirty="0"/>
          </a:p>
        </p:txBody>
      </p:sp>
      <p:sp>
        <p:nvSpPr>
          <p:cNvPr id="69" name="Shape 60"/>
          <p:cNvSpPr/>
          <p:nvPr/>
        </p:nvSpPr>
        <p:spPr>
          <a:xfrm>
            <a:off x="4389120" y="4818888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7125E"/>
          </a:solidFill>
          <a:ln w="127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1"/>
          <p:cNvSpPr txBox="1"/>
          <p:nvPr/>
        </p:nvSpPr>
        <p:spPr>
          <a:xfrm>
            <a:off x="4434840" y="48188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documents</a:t>
            </a:r>
            <a:endParaRPr lang="en-US" sz="950" dirty="0"/>
          </a:p>
        </p:txBody>
      </p:sp>
      <p:sp>
        <p:nvSpPr>
          <p:cNvPr id="71" name="Shape 62"/>
          <p:cNvSpPr/>
          <p:nvPr/>
        </p:nvSpPr>
        <p:spPr>
          <a:xfrm>
            <a:off x="5669280" y="4818888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7125E"/>
          </a:solidFill>
          <a:ln w="127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3"/>
          <p:cNvSpPr txBox="1"/>
          <p:nvPr/>
        </p:nvSpPr>
        <p:spPr>
          <a:xfrm>
            <a:off x="5715000" y="48188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library</a:t>
            </a:r>
            <a:endParaRPr lang="en-US" sz="950" dirty="0"/>
          </a:p>
        </p:txBody>
      </p:sp>
      <p:sp>
        <p:nvSpPr>
          <p:cNvPr id="73" name="Shape 64"/>
          <p:cNvSpPr/>
          <p:nvPr/>
        </p:nvSpPr>
        <p:spPr>
          <a:xfrm>
            <a:off x="6949440" y="4818888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7125E"/>
          </a:solidFill>
          <a:ln w="12700">
            <a:solidFill>
              <a:srgbClr val="0712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5"/>
          <p:cNvSpPr txBox="1"/>
          <p:nvPr/>
        </p:nvSpPr>
        <p:spPr>
          <a:xfrm>
            <a:off x="6995160" y="481888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ledger</a:t>
            </a:r>
            <a:endParaRPr lang="en-US" sz="950" dirty="0"/>
          </a:p>
        </p:txBody>
      </p:sp>
      <p:sp>
        <p:nvSpPr>
          <p:cNvPr id="75" name="Text 66"/>
          <p:cNvSpPr txBox="1"/>
          <p:nvPr/>
        </p:nvSpPr>
        <p:spPr>
          <a:xfrm>
            <a:off x="8686800" y="1481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SYSTEMS</a:t>
            </a:r>
            <a:endParaRPr lang="en-US" sz="1050" dirty="0"/>
          </a:p>
        </p:txBody>
      </p:sp>
      <p:sp>
        <p:nvSpPr>
          <p:cNvPr id="76" name="Shape 67"/>
          <p:cNvSpPr/>
          <p:nvPr/>
        </p:nvSpPr>
        <p:spPr>
          <a:xfrm>
            <a:off x="8686800" y="1719072"/>
            <a:ext cx="29535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Shape 68"/>
          <p:cNvSpPr/>
          <p:nvPr/>
        </p:nvSpPr>
        <p:spPr>
          <a:xfrm>
            <a:off x="8778240" y="1901952"/>
            <a:ext cx="457200" cy="457200"/>
          </a:xfrm>
          <a:prstGeom prst="ellipse">
            <a:avLst/>
          </a:prstGeom>
          <a:solidFill>
            <a:srgbClr val="5359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1684" y="2025396"/>
            <a:ext cx="210312" cy="210312"/>
          </a:xfrm>
          <a:prstGeom prst="rect">
            <a:avLst/>
          </a:prstGeom>
        </p:spPr>
      </p:pic>
      <p:sp>
        <p:nvSpPr>
          <p:cNvPr id="79" name="Text 69"/>
          <p:cNvSpPr txBox="1"/>
          <p:nvPr/>
        </p:nvSpPr>
        <p:spPr>
          <a:xfrm>
            <a:off x="9372600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identity providers</a:t>
            </a:r>
            <a:endParaRPr lang="en-US" sz="1150" dirty="0"/>
          </a:p>
        </p:txBody>
      </p:sp>
      <p:sp>
        <p:nvSpPr>
          <p:cNvPr id="80" name="Text 70"/>
          <p:cNvSpPr txBox="1"/>
          <p:nvPr/>
        </p:nvSpPr>
        <p:spPr>
          <a:xfrm>
            <a:off x="937260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(optional)</a:t>
            </a:r>
            <a:endParaRPr lang="en-US" sz="1000" dirty="0"/>
          </a:p>
        </p:txBody>
      </p:sp>
      <p:sp>
        <p:nvSpPr>
          <p:cNvPr id="81" name="Shape 71"/>
          <p:cNvSpPr/>
          <p:nvPr/>
        </p:nvSpPr>
        <p:spPr>
          <a:xfrm flipH="1">
            <a:off x="8430768" y="2139696"/>
            <a:ext cx="237744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2"/>
          <p:cNvSpPr/>
          <p:nvPr/>
        </p:nvSpPr>
        <p:spPr>
          <a:xfrm>
            <a:off x="8686800" y="2670048"/>
            <a:ext cx="29535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Shape 73"/>
          <p:cNvSpPr/>
          <p:nvPr/>
        </p:nvSpPr>
        <p:spPr>
          <a:xfrm>
            <a:off x="8778240" y="2852928"/>
            <a:ext cx="457200" cy="457200"/>
          </a:xfrm>
          <a:prstGeom prst="ellipse">
            <a:avLst/>
          </a:prstGeom>
          <a:solidFill>
            <a:srgbClr val="5359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1684" y="2976372"/>
            <a:ext cx="210312" cy="210312"/>
          </a:xfrm>
          <a:prstGeom prst="rect">
            <a:avLst/>
          </a:prstGeom>
        </p:spPr>
      </p:pic>
      <p:sp>
        <p:nvSpPr>
          <p:cNvPr id="85" name="Text 74"/>
          <p:cNvSpPr txBox="1"/>
          <p:nvPr/>
        </p:nvSpPr>
        <p:spPr>
          <a:xfrm>
            <a:off x="937260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price and product files</a:t>
            </a:r>
            <a:endParaRPr lang="en-US" sz="1150" dirty="0"/>
          </a:p>
        </p:txBody>
      </p:sp>
      <p:sp>
        <p:nvSpPr>
          <p:cNvPr id="86" name="Text 75"/>
          <p:cNvSpPr txBox="1"/>
          <p:nvPr/>
        </p:nvSpPr>
        <p:spPr>
          <a:xfrm>
            <a:off x="9372600" y="3145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Uploads, templates</a:t>
            </a:r>
            <a:endParaRPr lang="en-US" sz="1000" dirty="0"/>
          </a:p>
        </p:txBody>
      </p:sp>
      <p:sp>
        <p:nvSpPr>
          <p:cNvPr id="87" name="Shape 76"/>
          <p:cNvSpPr/>
          <p:nvPr/>
        </p:nvSpPr>
        <p:spPr>
          <a:xfrm flipH="1">
            <a:off x="8430768" y="3090672"/>
            <a:ext cx="237744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77"/>
          <p:cNvSpPr/>
          <p:nvPr/>
        </p:nvSpPr>
        <p:spPr>
          <a:xfrm>
            <a:off x="8686800" y="3621024"/>
            <a:ext cx="29535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Shape 78"/>
          <p:cNvSpPr/>
          <p:nvPr/>
        </p:nvSpPr>
        <p:spPr>
          <a:xfrm>
            <a:off x="8778240" y="3803904"/>
            <a:ext cx="457200" cy="457200"/>
          </a:xfrm>
          <a:prstGeom prst="ellipse">
            <a:avLst/>
          </a:prstGeom>
          <a:solidFill>
            <a:srgbClr val="5359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1684" y="3927348"/>
            <a:ext cx="210312" cy="210312"/>
          </a:xfrm>
          <a:prstGeom prst="rect">
            <a:avLst/>
          </a:prstGeom>
        </p:spPr>
      </p:pic>
      <p:sp>
        <p:nvSpPr>
          <p:cNvPr id="91" name="Text 79"/>
          <p:cNvSpPr txBox="1"/>
          <p:nvPr/>
        </p:nvSpPr>
        <p:spPr>
          <a:xfrm>
            <a:off x="9372600" y="37124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and compendia data</a:t>
            </a:r>
            <a:endParaRPr lang="en-US" sz="1150" dirty="0"/>
          </a:p>
        </p:txBody>
      </p:sp>
      <p:sp>
        <p:nvSpPr>
          <p:cNvPr id="92" name="Text 80"/>
          <p:cNvSpPr txBox="1"/>
          <p:nvPr/>
        </p:nvSpPr>
        <p:spPr>
          <a:xfrm>
            <a:off x="9372600" y="4096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by EPG</a:t>
            </a:r>
            <a:endParaRPr lang="en-US" sz="1000" dirty="0"/>
          </a:p>
        </p:txBody>
      </p:sp>
      <p:sp>
        <p:nvSpPr>
          <p:cNvPr id="93" name="Shape 81"/>
          <p:cNvSpPr/>
          <p:nvPr/>
        </p:nvSpPr>
        <p:spPr>
          <a:xfrm flipH="1">
            <a:off x="8430768" y="4041648"/>
            <a:ext cx="237744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82"/>
          <p:cNvSpPr/>
          <p:nvPr/>
        </p:nvSpPr>
        <p:spPr>
          <a:xfrm>
            <a:off x="8686800" y="4572000"/>
            <a:ext cx="295351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Shape 83"/>
          <p:cNvSpPr/>
          <p:nvPr/>
        </p:nvSpPr>
        <p:spPr>
          <a:xfrm>
            <a:off x="8778240" y="4754880"/>
            <a:ext cx="457200" cy="457200"/>
          </a:xfrm>
          <a:prstGeom prst="ellipse">
            <a:avLst/>
          </a:prstGeom>
          <a:solidFill>
            <a:srgbClr val="53598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1684" y="4878324"/>
            <a:ext cx="210312" cy="210312"/>
          </a:xfrm>
          <a:prstGeom prst="rect">
            <a:avLst/>
          </a:prstGeom>
        </p:spPr>
      </p:pic>
      <p:sp>
        <p:nvSpPr>
          <p:cNvPr id="97" name="Text 84"/>
          <p:cNvSpPr txBox="1"/>
          <p:nvPr/>
        </p:nvSpPr>
        <p:spPr>
          <a:xfrm>
            <a:off x="937260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regulators</a:t>
            </a:r>
            <a:endParaRPr lang="en-US" sz="1150" dirty="0"/>
          </a:p>
        </p:txBody>
      </p:sp>
      <p:sp>
        <p:nvSpPr>
          <p:cNvPr id="98" name="Text 85"/>
          <p:cNvSpPr txBox="1"/>
          <p:nvPr/>
        </p:nvSpPr>
        <p:spPr>
          <a:xfrm>
            <a:off x="9372600" y="5047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by analysts</a:t>
            </a:r>
            <a:endParaRPr lang="en-US" sz="1000" dirty="0"/>
          </a:p>
        </p:txBody>
      </p:sp>
      <p:sp>
        <p:nvSpPr>
          <p:cNvPr id="99" name="Shape 86"/>
          <p:cNvSpPr/>
          <p:nvPr/>
        </p:nvSpPr>
        <p:spPr>
          <a:xfrm flipH="1">
            <a:off x="8430768" y="4992624"/>
            <a:ext cx="237744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87"/>
          <p:cNvSpPr/>
          <p:nvPr/>
        </p:nvSpPr>
        <p:spPr>
          <a:xfrm>
            <a:off x="548640" y="5596128"/>
            <a:ext cx="27249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1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5760720"/>
            <a:ext cx="310896" cy="310896"/>
          </a:xfrm>
          <a:prstGeom prst="rect">
            <a:avLst/>
          </a:prstGeom>
        </p:spPr>
      </p:pic>
      <p:sp>
        <p:nvSpPr>
          <p:cNvPr id="102" name="Text 88"/>
          <p:cNvSpPr txBox="1"/>
          <p:nvPr/>
        </p:nvSpPr>
        <p:spPr>
          <a:xfrm>
            <a:off x="1078992" y="5632704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as data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dated, versioned, regression tested; a rule change is a data change</a:t>
            </a:r>
            <a:endParaRPr lang="en-US" sz="1400" dirty="0"/>
          </a:p>
        </p:txBody>
      </p:sp>
      <p:sp>
        <p:nvSpPr>
          <p:cNvPr id="103" name="Shape 89"/>
          <p:cNvSpPr/>
          <p:nvPr/>
        </p:nvSpPr>
        <p:spPr>
          <a:xfrm>
            <a:off x="3346704" y="5596128"/>
            <a:ext cx="27249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56432" y="5760720"/>
            <a:ext cx="310896" cy="310896"/>
          </a:xfrm>
          <a:prstGeom prst="rect">
            <a:avLst/>
          </a:prstGeom>
        </p:spPr>
      </p:pic>
      <p:sp>
        <p:nvSpPr>
          <p:cNvPr id="105" name="Text 90"/>
          <p:cNvSpPr txBox="1"/>
          <p:nvPr/>
        </p:nvSpPr>
        <p:spPr>
          <a:xfrm>
            <a:off x="3877056" y="5632704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audited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override and filing is on a tamper resistant ledger</a:t>
            </a:r>
            <a:endParaRPr lang="en-US" sz="1400" dirty="0"/>
          </a:p>
        </p:txBody>
      </p:sp>
      <p:sp>
        <p:nvSpPr>
          <p:cNvPr id="106" name="Shape 91"/>
          <p:cNvSpPr/>
          <p:nvPr/>
        </p:nvSpPr>
        <p:spPr>
          <a:xfrm>
            <a:off x="6144768" y="5596128"/>
            <a:ext cx="27249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7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4496" y="5760720"/>
            <a:ext cx="310896" cy="310896"/>
          </a:xfrm>
          <a:prstGeom prst="rect">
            <a:avLst/>
          </a:prstGeom>
        </p:spPr>
      </p:pic>
      <p:sp>
        <p:nvSpPr>
          <p:cNvPr id="108" name="Text 92"/>
          <p:cNvSpPr txBox="1"/>
          <p:nvPr/>
        </p:nvSpPr>
        <p:spPr>
          <a:xfrm>
            <a:off x="6675120" y="5632704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decide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prepares; analysts and SMEs review and approve</a:t>
            </a:r>
            <a:endParaRPr lang="en-US" sz="1400" dirty="0"/>
          </a:p>
        </p:txBody>
      </p:sp>
      <p:sp>
        <p:nvSpPr>
          <p:cNvPr id="109" name="Shape 93"/>
          <p:cNvSpPr/>
          <p:nvPr/>
        </p:nvSpPr>
        <p:spPr>
          <a:xfrm>
            <a:off x="8942832" y="5596128"/>
            <a:ext cx="27249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0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52560" y="5760720"/>
            <a:ext cx="310896" cy="310896"/>
          </a:xfrm>
          <a:prstGeom prst="rect">
            <a:avLst/>
          </a:prstGeom>
        </p:spPr>
      </p:pic>
      <p:sp>
        <p:nvSpPr>
          <p:cNvPr id="111" name="Text 94"/>
          <p:cNvSpPr txBox="1"/>
          <p:nvPr/>
        </p:nvSpPr>
        <p:spPr>
          <a:xfrm>
            <a:off x="9473184" y="5632704"/>
            <a:ext cx="2148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EPG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module or a state without re platforming</a:t>
            </a:r>
            <a:endParaRPr lang="en-US" sz="1400" dirty="0"/>
          </a:p>
        </p:txBody>
      </p:sp>
      <p:sp>
        <p:nvSpPr>
          <p:cNvPr id="1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359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1: STATE LICENSING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1206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0D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Licensing moves from client request to renewal through nine controlled steps, with every decision traceable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965960" y="1481328"/>
            <a:ext cx="1889150" cy="310896"/>
          </a:xfrm>
          <a:prstGeom prst="homePlat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057400" y="1481328"/>
            <a:ext cx="16148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00830" y="1481328"/>
            <a:ext cx="1889150" cy="310896"/>
          </a:xfrm>
          <a:prstGeom prst="homePlate">
            <a:avLst/>
          </a:prstGeom>
          <a:solidFill>
            <a:srgbClr val="58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992270" y="1481328"/>
            <a:ext cx="16148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35701" y="1481328"/>
            <a:ext cx="1889150" cy="310896"/>
          </a:xfrm>
          <a:prstGeom prst="homePlat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27141" y="1481328"/>
            <a:ext cx="16148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0571" y="1481328"/>
            <a:ext cx="1889150" cy="310896"/>
          </a:xfrm>
          <a:prstGeom prst="homePlate">
            <a:avLst/>
          </a:prstGeom>
          <a:solidFill>
            <a:srgbClr val="58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862011" y="1481328"/>
            <a:ext cx="16148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705442" y="1481328"/>
            <a:ext cx="1889150" cy="310896"/>
          </a:xfrm>
          <a:prstGeom prst="homePlat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796882" y="1481328"/>
            <a:ext cx="16148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11091672" cy="841248"/>
          </a:xfrm>
          <a:prstGeom prst="rect">
            <a:avLst/>
          </a:prstGeom>
          <a:solidFill>
            <a:srgbClr val="F1F2F8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1417320" cy="841248"/>
          </a:xfrm>
          <a:prstGeom prst="rect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" y="2115373"/>
            <a:ext cx="176662" cy="17666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97280" y="182880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2706624"/>
            <a:ext cx="11091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" y="2706624"/>
            <a:ext cx="1417320" cy="841248"/>
          </a:xfrm>
          <a:prstGeom prst="rect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0080" y="2889504"/>
            <a:ext cx="384048" cy="38404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73" y="2993197"/>
            <a:ext cx="176662" cy="17666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7280" y="2706624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analyst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3584448"/>
            <a:ext cx="11091672" cy="841248"/>
          </a:xfrm>
          <a:prstGeom prst="rect">
            <a:avLst/>
          </a:prstGeom>
          <a:solidFill>
            <a:srgbClr val="F1F2F8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48640" y="3584448"/>
            <a:ext cx="1417320" cy="841248"/>
          </a:xfrm>
          <a:prstGeom prst="rect">
            <a:avLst/>
          </a:prstGeom>
          <a:solidFill>
            <a:srgbClr val="040D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40080" y="3767328"/>
            <a:ext cx="384048" cy="384048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73" y="3871021"/>
            <a:ext cx="176662" cy="17666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97280" y="3584448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rules engine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48640" y="4462272"/>
            <a:ext cx="11091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48640" y="4462272"/>
            <a:ext cx="1417320" cy="841248"/>
          </a:xfrm>
          <a:prstGeom prst="rect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40080" y="4645152"/>
            <a:ext cx="384048" cy="38404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73" y="4748845"/>
            <a:ext cx="176662" cy="17666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97280" y="4462272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SME staff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48640" y="5340096"/>
            <a:ext cx="11091672" cy="841248"/>
          </a:xfrm>
          <a:prstGeom prst="rect">
            <a:avLst/>
          </a:prstGeom>
          <a:solidFill>
            <a:srgbClr val="F1F2F8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548640" y="5340096"/>
            <a:ext cx="1417320" cy="841248"/>
          </a:xfrm>
          <a:prstGeom prst="rect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640080" y="5522976"/>
            <a:ext cx="384048" cy="38404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773" y="5626669"/>
            <a:ext cx="176662" cy="17666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97280" y="5340096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regulator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2057400" y="1892808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1965960" y="1801368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 txBox="1"/>
          <p:nvPr/>
        </p:nvSpPr>
        <p:spPr>
          <a:xfrm>
            <a:off x="1965960" y="1801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2148840" y="1938528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 with products and facilities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3992270" y="3648456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040D43"/>
          </a:solidFill>
          <a:ln w="15875">
            <a:solidFill>
              <a:srgbClr val="040D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3900830" y="3557016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 txBox="1"/>
          <p:nvPr/>
        </p:nvSpPr>
        <p:spPr>
          <a:xfrm>
            <a:off x="3900830" y="3557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4083710" y="3694176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data, create missing NDCs, determine licences by state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3992270" y="2770632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3900830" y="2679192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 txBox="1"/>
          <p:nvPr/>
        </p:nvSpPr>
        <p:spPr>
          <a:xfrm>
            <a:off x="3900830" y="2679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4083710" y="2816352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exceptions, confirm or override with reason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5927141" y="3648456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040D43"/>
          </a:solidFill>
          <a:ln w="15875">
            <a:solidFill>
              <a:srgbClr val="040D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5"/>
          <p:cNvSpPr/>
          <p:nvPr/>
        </p:nvSpPr>
        <p:spPr>
          <a:xfrm>
            <a:off x="5835701" y="3557016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 txBox="1"/>
          <p:nvPr/>
        </p:nvSpPr>
        <p:spPr>
          <a:xfrm>
            <a:off x="5835701" y="3557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6018581" y="3694176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state forms, checklists and fee schedule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5927141" y="4526280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9"/>
          <p:cNvSpPr/>
          <p:nvPr/>
        </p:nvSpPr>
        <p:spPr>
          <a:xfrm>
            <a:off x="5835701" y="4434840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 txBox="1"/>
          <p:nvPr/>
        </p:nvSpPr>
        <p:spPr>
          <a:xfrm>
            <a:off x="5835701" y="4434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6018581" y="4572000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forms for complex or high risk states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7862011" y="2770632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3"/>
          <p:cNvSpPr/>
          <p:nvPr/>
        </p:nvSpPr>
        <p:spPr>
          <a:xfrm>
            <a:off x="7770571" y="2679192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 txBox="1"/>
          <p:nvPr/>
        </p:nvSpPr>
        <p:spPr>
          <a:xfrm>
            <a:off x="7770571" y="2679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2" name="Text 55"/>
          <p:cNvSpPr txBox="1"/>
          <p:nvPr/>
        </p:nvSpPr>
        <p:spPr>
          <a:xfrm>
            <a:off x="7953451" y="2816352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package and file with the state</a:t>
            </a:r>
            <a:endParaRPr lang="en-US" sz="1050" dirty="0"/>
          </a:p>
        </p:txBody>
      </p:sp>
      <p:sp>
        <p:nvSpPr>
          <p:cNvPr id="63" name="Shape 56"/>
          <p:cNvSpPr/>
          <p:nvPr/>
        </p:nvSpPr>
        <p:spPr>
          <a:xfrm>
            <a:off x="7862011" y="5404104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7"/>
          <p:cNvSpPr/>
          <p:nvPr/>
        </p:nvSpPr>
        <p:spPr>
          <a:xfrm>
            <a:off x="7770571" y="5312664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 txBox="1"/>
          <p:nvPr/>
        </p:nvSpPr>
        <p:spPr>
          <a:xfrm>
            <a:off x="7770571" y="5312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6" name="Text 59"/>
          <p:cNvSpPr txBox="1"/>
          <p:nvPr/>
        </p:nvSpPr>
        <p:spPr>
          <a:xfrm>
            <a:off x="7953451" y="5449824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licence or raises a deficiency</a:t>
            </a:r>
            <a:endParaRPr lang="en-US" sz="1050" dirty="0"/>
          </a:p>
        </p:txBody>
      </p:sp>
      <p:sp>
        <p:nvSpPr>
          <p:cNvPr id="67" name="Shape 60"/>
          <p:cNvSpPr/>
          <p:nvPr/>
        </p:nvSpPr>
        <p:spPr>
          <a:xfrm>
            <a:off x="9796882" y="3648456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040D43"/>
          </a:solidFill>
          <a:ln w="15875">
            <a:solidFill>
              <a:srgbClr val="040D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1"/>
          <p:cNvSpPr/>
          <p:nvPr/>
        </p:nvSpPr>
        <p:spPr>
          <a:xfrm>
            <a:off x="9705442" y="3557016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2"/>
          <p:cNvSpPr txBox="1"/>
          <p:nvPr/>
        </p:nvSpPr>
        <p:spPr>
          <a:xfrm>
            <a:off x="9705442" y="3557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9888322" y="3694176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licence, set renewal dates and alerts</a:t>
            </a:r>
            <a:endParaRPr lang="en-US" sz="1050" dirty="0"/>
          </a:p>
        </p:txBody>
      </p:sp>
      <p:sp>
        <p:nvSpPr>
          <p:cNvPr id="71" name="Shape 64"/>
          <p:cNvSpPr/>
          <p:nvPr/>
        </p:nvSpPr>
        <p:spPr>
          <a:xfrm>
            <a:off x="9796882" y="1892808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5"/>
          <p:cNvSpPr/>
          <p:nvPr/>
        </p:nvSpPr>
        <p:spPr>
          <a:xfrm>
            <a:off x="9705442" y="1801368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6"/>
          <p:cNvSpPr txBox="1"/>
          <p:nvPr/>
        </p:nvSpPr>
        <p:spPr>
          <a:xfrm>
            <a:off x="9705442" y="1801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4" name="Text 67"/>
          <p:cNvSpPr txBox="1"/>
          <p:nvPr/>
        </p:nvSpPr>
        <p:spPr>
          <a:xfrm>
            <a:off x="9888322" y="1938528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status, documents and renewals</a:t>
            </a:r>
            <a:endParaRPr lang="en-US" sz="1050" dirty="0"/>
          </a:p>
        </p:txBody>
      </p:sp>
      <p:sp>
        <p:nvSpPr>
          <p:cNvPr id="75" name="Shape 68"/>
          <p:cNvSpPr/>
          <p:nvPr/>
        </p:nvSpPr>
        <p:spPr>
          <a:xfrm>
            <a:off x="3717950" y="2249424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69"/>
          <p:cNvSpPr/>
          <p:nvPr/>
        </p:nvSpPr>
        <p:spPr>
          <a:xfrm>
            <a:off x="3855110" y="2249424"/>
            <a:ext cx="0" cy="1755648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0"/>
          <p:cNvSpPr/>
          <p:nvPr/>
        </p:nvSpPr>
        <p:spPr>
          <a:xfrm>
            <a:off x="3855110" y="4005072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1"/>
          <p:cNvSpPr/>
          <p:nvPr/>
        </p:nvSpPr>
        <p:spPr>
          <a:xfrm flipV="1">
            <a:off x="4822546" y="3483864"/>
            <a:ext cx="0" cy="164592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2"/>
          <p:cNvSpPr/>
          <p:nvPr/>
        </p:nvSpPr>
        <p:spPr>
          <a:xfrm>
            <a:off x="5652821" y="3127248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3"/>
          <p:cNvSpPr/>
          <p:nvPr/>
        </p:nvSpPr>
        <p:spPr>
          <a:xfrm>
            <a:off x="5789981" y="3127248"/>
            <a:ext cx="0" cy="877824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4"/>
          <p:cNvSpPr/>
          <p:nvPr/>
        </p:nvSpPr>
        <p:spPr>
          <a:xfrm>
            <a:off x="5789981" y="4005072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5"/>
          <p:cNvSpPr/>
          <p:nvPr/>
        </p:nvSpPr>
        <p:spPr>
          <a:xfrm>
            <a:off x="6757416" y="4361688"/>
            <a:ext cx="0" cy="164592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76"/>
          <p:cNvSpPr/>
          <p:nvPr/>
        </p:nvSpPr>
        <p:spPr>
          <a:xfrm>
            <a:off x="7587691" y="4882896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 flipV="1">
            <a:off x="7724851" y="3127248"/>
            <a:ext cx="0" cy="1755648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7724851" y="3127248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79"/>
          <p:cNvSpPr/>
          <p:nvPr/>
        </p:nvSpPr>
        <p:spPr>
          <a:xfrm>
            <a:off x="8692286" y="3483864"/>
            <a:ext cx="0" cy="192024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0"/>
          <p:cNvSpPr/>
          <p:nvPr/>
        </p:nvSpPr>
        <p:spPr>
          <a:xfrm>
            <a:off x="9522562" y="5760720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1"/>
          <p:cNvSpPr/>
          <p:nvPr/>
        </p:nvSpPr>
        <p:spPr>
          <a:xfrm flipV="1">
            <a:off x="9659722" y="4005072"/>
            <a:ext cx="0" cy="1755648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2"/>
          <p:cNvSpPr/>
          <p:nvPr/>
        </p:nvSpPr>
        <p:spPr>
          <a:xfrm>
            <a:off x="9659722" y="4005072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3"/>
          <p:cNvSpPr/>
          <p:nvPr/>
        </p:nvSpPr>
        <p:spPr>
          <a:xfrm flipV="1">
            <a:off x="10627157" y="2606040"/>
            <a:ext cx="0" cy="1042416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4"/>
          <p:cNvSpPr txBox="1"/>
          <p:nvPr/>
        </p:nvSpPr>
        <p:spPr>
          <a:xfrm>
            <a:off x="548640" y="626364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swimlane: amber numbers show sequence, navy boxes are automated platform steps, white boxes are people or external parties. Overrides and deficiencies write to the audit ledger.</a:t>
            </a:r>
            <a:endParaRPr lang="en-US" sz="1000" dirty="0"/>
          </a:p>
        </p:txBody>
      </p:sp>
      <p:sp>
        <p:nvSpPr>
          <p:cNvPr id="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359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FEATURES: STATE LICENSING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1206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0D43"/>
                </a:solidFill>
                <a:latin typeface="Cambria"/>
                <a:ea typeface="Cambria"/>
              </a:rPr>
              <a:t>Each State Licensing user group gets the features that shorten its part of the </a:t>
            </a:r>
            <a:r>
              <a:rPr lang="en-US">
                <a:latin typeface="Cambria"/>
                <a:ea typeface="Cambria"/>
              </a:rPr>
              <a:t>license</a:t>
            </a:r>
            <a:r>
              <a:rPr lang="en-US" sz="2400" b="1" dirty="0">
                <a:solidFill>
                  <a:srgbClr val="040D43"/>
                </a:solidFill>
                <a:latin typeface="Cambria"/>
                <a:ea typeface="Cambria"/>
              </a:rPr>
              <a:t> lifecycle</a:t>
            </a:r>
            <a:endParaRPr lang="en-US" sz="2400" dirty="0"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130552" cy="416052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130552" cy="73152"/>
          </a:xfrm>
          <a:prstGeom prst="rect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815084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6420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analyst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228600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E7FD"/>
          </a:solidFill>
          <a:ln w="12700">
            <a:solidFill>
              <a:srgbClr val="E9E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3152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61518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Prepares, files and tracks licences for client orgs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3218688"/>
            <a:ext cx="1856232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85800" y="3310128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licence determination with exceptions queue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generated forms, checklists and fees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deficiency tracking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assembly and filing record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queue and due dates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788920" y="1481328"/>
            <a:ext cx="2130552" cy="416052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88920" y="1481328"/>
            <a:ext cx="2130552" cy="73152"/>
          </a:xfrm>
          <a:prstGeom prst="rect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926080" y="1691640"/>
            <a:ext cx="457200" cy="45720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524" y="1815084"/>
            <a:ext cx="210312" cy="2103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74720" y="166420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926080" y="228600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E7FD"/>
          </a:solidFill>
          <a:ln w="12700">
            <a:solidFill>
              <a:srgbClr val="E9E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297180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2926080" y="261518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client relationship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926080" y="3218688"/>
            <a:ext cx="1856232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2926080" y="3310128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project dashboard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requests to clients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and change visibility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of regulatory updates to clients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reports on demand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0" y="1481328"/>
            <a:ext cx="2130552" cy="416052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029200" y="1481328"/>
            <a:ext cx="2130552" cy="73152"/>
          </a:xfrm>
          <a:prstGeom prst="rect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166360" y="1691640"/>
            <a:ext cx="457200" cy="45720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804" y="1815084"/>
            <a:ext cx="210312" cy="21031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715000" y="166420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SME staff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5166360" y="228600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E7FD"/>
          </a:solidFill>
          <a:ln w="12700">
            <a:solidFill>
              <a:srgbClr val="E9E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521208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5166360" y="261518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state rules and content current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166360" y="3218688"/>
            <a:ext cx="1856232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 txBox="1"/>
          <p:nvPr/>
        </p:nvSpPr>
        <p:spPr>
          <a:xfrm>
            <a:off x="5166360" y="3310128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high risk state forms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and requirement library with effective dates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log for each state update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updates for analysts and clients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7269480" y="1481328"/>
            <a:ext cx="2130552" cy="416052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7269480" y="1481328"/>
            <a:ext cx="2130552" cy="73152"/>
          </a:xfrm>
          <a:prstGeom prst="rect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7406640" y="1691640"/>
            <a:ext cx="457200" cy="45720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0084" y="1815084"/>
            <a:ext cx="210312" cy="21031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955280" y="166420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administrator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406640" y="228600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E7FD"/>
          </a:solidFill>
          <a:ln w="12700">
            <a:solidFill>
              <a:srgbClr val="E9E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745236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7406640" y="261518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platform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7406640" y="3218688"/>
            <a:ext cx="1856232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 txBox="1"/>
          <p:nvPr/>
        </p:nvSpPr>
        <p:spPr>
          <a:xfrm>
            <a:off x="7406640" y="3310128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role and tenant management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and template configuration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and calendar settings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ledger search and export</a:t>
            </a:r>
            <a:endParaRPr lang="en-US" sz="1150" dirty="0"/>
          </a:p>
        </p:txBody>
      </p:sp>
      <p:sp>
        <p:nvSpPr>
          <p:cNvPr id="44" name="Shape 38"/>
          <p:cNvSpPr/>
          <p:nvPr/>
        </p:nvSpPr>
        <p:spPr>
          <a:xfrm>
            <a:off x="9509760" y="1481328"/>
            <a:ext cx="2130552" cy="416052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9509760" y="1481328"/>
            <a:ext cx="2130552" cy="73152"/>
          </a:xfrm>
          <a:prstGeom prst="rect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9646920" y="1691640"/>
            <a:ext cx="457200" cy="457200"/>
          </a:xfrm>
          <a:prstGeom prst="ellipse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0364" y="1815084"/>
            <a:ext cx="210312" cy="210312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0195560" y="166420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users</a:t>
            </a:r>
            <a:endParaRPr lang="en-US" sz="1250" dirty="0"/>
          </a:p>
        </p:txBody>
      </p:sp>
      <p:sp>
        <p:nvSpPr>
          <p:cNvPr id="49" name="Shape 42"/>
          <p:cNvSpPr/>
          <p:nvPr/>
        </p:nvSpPr>
        <p:spPr>
          <a:xfrm>
            <a:off x="9646920" y="228600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DDF6F9"/>
          </a:solidFill>
          <a:ln w="12700">
            <a:solidFill>
              <a:srgbClr val="DDF6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969264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9646920" y="261518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contact, administrator and contributors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9646920" y="3218688"/>
            <a:ext cx="1856232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 txBox="1"/>
          <p:nvPr/>
        </p:nvSpPr>
        <p:spPr>
          <a:xfrm>
            <a:off x="9646920" y="3310128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intake of products and facilities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and e review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licence status and renewal dates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user invitations and project access</a:t>
            </a:r>
            <a:endParaRPr lang="en-US" sz="1150" dirty="0"/>
          </a:p>
        </p:txBody>
      </p:sp>
      <p:sp>
        <p:nvSpPr>
          <p:cNvPr id="54" name="Shape 47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9E7FD"/>
          </a:solidFill>
          <a:ln w="12700">
            <a:solidFill>
              <a:srgbClr val="E9E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897880"/>
            <a:ext cx="274320" cy="274320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1143000" y="5760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one shared record of every licence, application and renewal, visible to the team and, from stage 2, to the client.</a:t>
            </a:r>
            <a:endParaRPr lang="en-US" sz="115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359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2: DRUG PRICE TRANSPARENCY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1206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0D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Price Transparency turns client price data into state ready reports, with thresholds applied as dated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965960" y="1481328"/>
            <a:ext cx="1889150" cy="310896"/>
          </a:xfrm>
          <a:prstGeom prst="homePlat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2057400" y="1481328"/>
            <a:ext cx="16148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00830" y="1481328"/>
            <a:ext cx="1889150" cy="310896"/>
          </a:xfrm>
          <a:prstGeom prst="homePlate">
            <a:avLst/>
          </a:prstGeom>
          <a:solidFill>
            <a:srgbClr val="58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992270" y="1481328"/>
            <a:ext cx="16148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35701" y="1481328"/>
            <a:ext cx="1889150" cy="310896"/>
          </a:xfrm>
          <a:prstGeom prst="homePlat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927141" y="1481328"/>
            <a:ext cx="16148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0571" y="1481328"/>
            <a:ext cx="1889150" cy="310896"/>
          </a:xfrm>
          <a:prstGeom prst="homePlate">
            <a:avLst/>
          </a:prstGeom>
          <a:solidFill>
            <a:srgbClr val="58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862011" y="1481328"/>
            <a:ext cx="16148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705442" y="1481328"/>
            <a:ext cx="1889150" cy="310896"/>
          </a:xfrm>
          <a:prstGeom prst="homePlat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796882" y="1481328"/>
            <a:ext cx="16148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11091672" cy="841248"/>
          </a:xfrm>
          <a:prstGeom prst="rect">
            <a:avLst/>
          </a:prstGeom>
          <a:solidFill>
            <a:srgbClr val="F1F2F8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1417320" cy="841248"/>
          </a:xfrm>
          <a:prstGeom prst="rect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" y="2115373"/>
            <a:ext cx="176662" cy="17666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97280" y="1828800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2706624"/>
            <a:ext cx="11091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" y="2706624"/>
            <a:ext cx="1417320" cy="841248"/>
          </a:xfrm>
          <a:prstGeom prst="rect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0080" y="2889504"/>
            <a:ext cx="384048" cy="38404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73" y="2993197"/>
            <a:ext cx="176662" cy="17666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7280" y="2706624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DPT analyst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3584448"/>
            <a:ext cx="11091672" cy="841248"/>
          </a:xfrm>
          <a:prstGeom prst="rect">
            <a:avLst/>
          </a:prstGeom>
          <a:solidFill>
            <a:srgbClr val="F1F2F8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48640" y="3584448"/>
            <a:ext cx="1417320" cy="841248"/>
          </a:xfrm>
          <a:prstGeom prst="rect">
            <a:avLst/>
          </a:prstGeom>
          <a:solidFill>
            <a:srgbClr val="040D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40080" y="3767328"/>
            <a:ext cx="384048" cy="384048"/>
          </a:xfrm>
          <a:prstGeom prst="ellipse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73" y="3871021"/>
            <a:ext cx="176662" cy="17666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97280" y="3584448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rules engine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48640" y="4462272"/>
            <a:ext cx="110916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48640" y="4462272"/>
            <a:ext cx="1417320" cy="841248"/>
          </a:xfrm>
          <a:prstGeom prst="rect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40080" y="4645152"/>
            <a:ext cx="384048" cy="38404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73" y="4748845"/>
            <a:ext cx="176662" cy="17666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97280" y="4462272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SME staff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548640" y="5340096"/>
            <a:ext cx="11091672" cy="841248"/>
          </a:xfrm>
          <a:prstGeom prst="rect">
            <a:avLst/>
          </a:prstGeom>
          <a:solidFill>
            <a:srgbClr val="F1F2F8"/>
          </a:solidFill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548640" y="5340096"/>
            <a:ext cx="1417320" cy="841248"/>
          </a:xfrm>
          <a:prstGeom prst="rect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640080" y="5522976"/>
            <a:ext cx="384048" cy="384048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773" y="5626669"/>
            <a:ext cx="176662" cy="17666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97280" y="5340096"/>
            <a:ext cx="822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regulator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2057400" y="1892808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1965960" y="1801368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 txBox="1"/>
          <p:nvPr/>
        </p:nvSpPr>
        <p:spPr>
          <a:xfrm>
            <a:off x="1965960" y="1801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2148840" y="1938528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price and product data (WAC, NDC, effective dates)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3992270" y="3648456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040D43"/>
          </a:solidFill>
          <a:ln w="15875">
            <a:solidFill>
              <a:srgbClr val="040D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3900830" y="3557016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 txBox="1"/>
          <p:nvPr/>
        </p:nvSpPr>
        <p:spPr>
          <a:xfrm>
            <a:off x="3900830" y="3557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4083710" y="3694176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map products to states and detect increases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5927141" y="3648456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040D43"/>
          </a:solidFill>
          <a:ln w="15875">
            <a:solidFill>
              <a:srgbClr val="040D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5835701" y="3557016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 txBox="1"/>
          <p:nvPr/>
        </p:nvSpPr>
        <p:spPr>
          <a:xfrm>
            <a:off x="5835701" y="3557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6018581" y="3694176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thresholds and triggers using rules in force on each date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5927141" y="2770632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5"/>
          <p:cNvSpPr/>
          <p:nvPr/>
        </p:nvSpPr>
        <p:spPr>
          <a:xfrm>
            <a:off x="5835701" y="2679192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 txBox="1"/>
          <p:nvPr/>
        </p:nvSpPr>
        <p:spPr>
          <a:xfrm>
            <a:off x="5835701" y="2679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6018581" y="2816352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scenarios, review results and record overrides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7862011" y="3648456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040D43"/>
          </a:solidFill>
          <a:ln w="15875">
            <a:solidFill>
              <a:srgbClr val="040D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9"/>
          <p:cNvSpPr/>
          <p:nvPr/>
        </p:nvSpPr>
        <p:spPr>
          <a:xfrm>
            <a:off x="7770571" y="3557016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 txBox="1"/>
          <p:nvPr/>
        </p:nvSpPr>
        <p:spPr>
          <a:xfrm>
            <a:off x="7770571" y="3557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7953451" y="3694176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state reports and compute due dates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7862011" y="4526280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3"/>
          <p:cNvSpPr/>
          <p:nvPr/>
        </p:nvSpPr>
        <p:spPr>
          <a:xfrm>
            <a:off x="7770571" y="4434840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 txBox="1"/>
          <p:nvPr/>
        </p:nvSpPr>
        <p:spPr>
          <a:xfrm>
            <a:off x="7770571" y="4434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2" name="Text 55"/>
          <p:cNvSpPr txBox="1"/>
          <p:nvPr/>
        </p:nvSpPr>
        <p:spPr>
          <a:xfrm>
            <a:off x="7953451" y="4572000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reports with accuracy summary</a:t>
            </a:r>
            <a:endParaRPr lang="en-US" sz="1050" dirty="0"/>
          </a:p>
        </p:txBody>
      </p:sp>
      <p:sp>
        <p:nvSpPr>
          <p:cNvPr id="63" name="Shape 56"/>
          <p:cNvSpPr/>
          <p:nvPr/>
        </p:nvSpPr>
        <p:spPr>
          <a:xfrm>
            <a:off x="9796882" y="2770632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7"/>
          <p:cNvSpPr/>
          <p:nvPr/>
        </p:nvSpPr>
        <p:spPr>
          <a:xfrm>
            <a:off x="9705442" y="2679192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 txBox="1"/>
          <p:nvPr/>
        </p:nvSpPr>
        <p:spPr>
          <a:xfrm>
            <a:off x="9705442" y="2679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6" name="Text 59"/>
          <p:cNvSpPr txBox="1"/>
          <p:nvPr/>
        </p:nvSpPr>
        <p:spPr>
          <a:xfrm>
            <a:off x="9888322" y="2816352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report and store receipt</a:t>
            </a:r>
            <a:endParaRPr lang="en-US" sz="1050" dirty="0"/>
          </a:p>
        </p:txBody>
      </p:sp>
      <p:sp>
        <p:nvSpPr>
          <p:cNvPr id="67" name="Shape 60"/>
          <p:cNvSpPr/>
          <p:nvPr/>
        </p:nvSpPr>
        <p:spPr>
          <a:xfrm>
            <a:off x="9796882" y="5404104"/>
            <a:ext cx="166055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1"/>
          <p:cNvSpPr/>
          <p:nvPr/>
        </p:nvSpPr>
        <p:spPr>
          <a:xfrm>
            <a:off x="9705442" y="5312664"/>
            <a:ext cx="237744" cy="237744"/>
          </a:xfrm>
          <a:prstGeom prst="ellipse">
            <a:avLst/>
          </a:prstGeom>
          <a:solidFill>
            <a:srgbClr val="F4C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2"/>
          <p:cNvSpPr txBox="1"/>
          <p:nvPr/>
        </p:nvSpPr>
        <p:spPr>
          <a:xfrm>
            <a:off x="9705442" y="5312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9888322" y="5449824"/>
            <a:ext cx="147767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report, confirmation recorded</a:t>
            </a:r>
            <a:endParaRPr lang="en-US" sz="1050" dirty="0"/>
          </a:p>
        </p:txBody>
      </p:sp>
      <p:sp>
        <p:nvSpPr>
          <p:cNvPr id="71" name="Shape 64"/>
          <p:cNvSpPr/>
          <p:nvPr/>
        </p:nvSpPr>
        <p:spPr>
          <a:xfrm>
            <a:off x="3717950" y="2249424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5"/>
          <p:cNvSpPr/>
          <p:nvPr/>
        </p:nvSpPr>
        <p:spPr>
          <a:xfrm>
            <a:off x="3855110" y="2249424"/>
            <a:ext cx="0" cy="1755648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66"/>
          <p:cNvSpPr/>
          <p:nvPr/>
        </p:nvSpPr>
        <p:spPr>
          <a:xfrm>
            <a:off x="3855110" y="4005072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67"/>
          <p:cNvSpPr/>
          <p:nvPr/>
        </p:nvSpPr>
        <p:spPr>
          <a:xfrm>
            <a:off x="5652821" y="4005072"/>
            <a:ext cx="27432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68"/>
          <p:cNvSpPr/>
          <p:nvPr/>
        </p:nvSpPr>
        <p:spPr>
          <a:xfrm flipV="1">
            <a:off x="6757416" y="3483864"/>
            <a:ext cx="0" cy="164592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69"/>
          <p:cNvSpPr/>
          <p:nvPr/>
        </p:nvSpPr>
        <p:spPr>
          <a:xfrm>
            <a:off x="7587691" y="3127248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0"/>
          <p:cNvSpPr/>
          <p:nvPr/>
        </p:nvSpPr>
        <p:spPr>
          <a:xfrm>
            <a:off x="7724851" y="3127248"/>
            <a:ext cx="0" cy="877824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1"/>
          <p:cNvSpPr/>
          <p:nvPr/>
        </p:nvSpPr>
        <p:spPr>
          <a:xfrm>
            <a:off x="7724851" y="4005072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2"/>
          <p:cNvSpPr/>
          <p:nvPr/>
        </p:nvSpPr>
        <p:spPr>
          <a:xfrm>
            <a:off x="8692286" y="4361688"/>
            <a:ext cx="0" cy="164592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3"/>
          <p:cNvSpPr/>
          <p:nvPr/>
        </p:nvSpPr>
        <p:spPr>
          <a:xfrm>
            <a:off x="9522562" y="4882896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4"/>
          <p:cNvSpPr/>
          <p:nvPr/>
        </p:nvSpPr>
        <p:spPr>
          <a:xfrm flipV="1">
            <a:off x="9659722" y="3127248"/>
            <a:ext cx="0" cy="1755648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5"/>
          <p:cNvSpPr/>
          <p:nvPr/>
        </p:nvSpPr>
        <p:spPr>
          <a:xfrm>
            <a:off x="9659722" y="3127248"/>
            <a:ext cx="137160" cy="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76"/>
          <p:cNvSpPr/>
          <p:nvPr/>
        </p:nvSpPr>
        <p:spPr>
          <a:xfrm>
            <a:off x="10627157" y="3483864"/>
            <a:ext cx="0" cy="1920240"/>
          </a:xfrm>
          <a:prstGeom prst="line">
            <a:avLst/>
          </a:prstGeom>
          <a:noFill/>
          <a:ln w="19050">
            <a:solidFill>
              <a:srgbClr val="3C2CD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77"/>
          <p:cNvSpPr txBox="1"/>
          <p:nvPr/>
        </p:nvSpPr>
        <p:spPr>
          <a:xfrm>
            <a:off x="548640" y="626364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swimlane: amber numbers show sequence, navy boxes are automated platform steps, white boxes are people or external parties. Rule operators are held as data (CLR-01 to 03, to be confirmed with EPG).</a:t>
            </a:r>
            <a:endParaRPr lang="en-US" sz="1000" dirty="0"/>
          </a:p>
        </p:txBody>
      </p:sp>
      <p:sp>
        <p:nvSpPr>
          <p:cNvPr id="8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359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C2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FEATURES: DRUG PRICE TRANSPARENCY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12064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0D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Drug Price Transparency user group gets the features that make reporting accurate, on time and defensible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130552" cy="416052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130552" cy="73152"/>
          </a:xfrm>
          <a:prstGeom prst="rect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815084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6420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DPT analyst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228600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E7FD"/>
          </a:solidFill>
          <a:ln w="12700">
            <a:solidFill>
              <a:srgbClr val="E9E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3152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61518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price changes and prepares state reports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3218688"/>
            <a:ext cx="1856232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85800" y="3310128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file upload, validation and NDC mapping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assessment by state and date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runs and override with reason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report generation and due dates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record and receipts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788920" y="1481328"/>
            <a:ext cx="2130552" cy="416052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88920" y="1481328"/>
            <a:ext cx="2130552" cy="73152"/>
          </a:xfrm>
          <a:prstGeom prst="rect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926080" y="1691640"/>
            <a:ext cx="457200" cy="45720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524" y="1815084"/>
            <a:ext cx="210312" cy="2103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474720" y="166420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926080" y="228600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E7FD"/>
          </a:solidFill>
          <a:ln w="12700">
            <a:solidFill>
              <a:srgbClr val="E9E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297180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2926080" y="261518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client relationship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926080" y="3218688"/>
            <a:ext cx="1856232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2926080" y="3310128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 calendar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of triggers before filing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of every state report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of rule change notices to clients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0" y="1481328"/>
            <a:ext cx="2130552" cy="416052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029200" y="1481328"/>
            <a:ext cx="2130552" cy="73152"/>
          </a:xfrm>
          <a:prstGeom prst="rect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166360" y="1691640"/>
            <a:ext cx="457200" cy="45720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804" y="1815084"/>
            <a:ext cx="210312" cy="21031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715000" y="166420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and SME staff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5166360" y="228600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E7FD"/>
          </a:solidFill>
          <a:ln w="12700">
            <a:solidFill>
              <a:srgbClr val="E9E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521208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5166360" y="261518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thresholds and reporting rules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166360" y="3218688"/>
            <a:ext cx="1856232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 txBox="1"/>
          <p:nvPr/>
        </p:nvSpPr>
        <p:spPr>
          <a:xfrm>
            <a:off x="5166360" y="3310128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of reports with accuracy summary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and rule library with effective dates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view for each rule change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check before a rule goes live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7269480" y="1481328"/>
            <a:ext cx="2130552" cy="416052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7269480" y="1481328"/>
            <a:ext cx="2130552" cy="73152"/>
          </a:xfrm>
          <a:prstGeom prst="rect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7406640" y="1691640"/>
            <a:ext cx="457200" cy="457200"/>
          </a:xfrm>
          <a:prstGeom prst="ellipse">
            <a:avLst/>
          </a:prstGeom>
          <a:solidFill>
            <a:srgbClr val="3C2CD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0084" y="1815084"/>
            <a:ext cx="210312" cy="21031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955280" y="166420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administrator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7406640" y="228600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E9E7FD"/>
          </a:solidFill>
          <a:ln w="12700">
            <a:solidFill>
              <a:srgbClr val="E9E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745236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7406640" y="261518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platform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7406640" y="3218688"/>
            <a:ext cx="1856232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 txBox="1"/>
          <p:nvPr/>
        </p:nvSpPr>
        <p:spPr>
          <a:xfrm>
            <a:off x="7406640" y="3310128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role and tenant management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report template configuration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 monitoring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ledger search and export</a:t>
            </a:r>
            <a:endParaRPr lang="en-US" sz="1150" dirty="0"/>
          </a:p>
        </p:txBody>
      </p:sp>
      <p:sp>
        <p:nvSpPr>
          <p:cNvPr id="44" name="Shape 38"/>
          <p:cNvSpPr/>
          <p:nvPr/>
        </p:nvSpPr>
        <p:spPr>
          <a:xfrm>
            <a:off x="9509760" y="1481328"/>
            <a:ext cx="2130552" cy="416052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DE0EE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9509760" y="1481328"/>
            <a:ext cx="2130552" cy="73152"/>
          </a:xfrm>
          <a:prstGeom prst="rect">
            <a:avLst/>
          </a:prstGeom>
          <a:solidFill>
            <a:srgbClr val="14CB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9646920" y="1691640"/>
            <a:ext cx="457200" cy="457200"/>
          </a:xfrm>
          <a:prstGeom prst="ellipse">
            <a:avLst/>
          </a:prstGeom>
          <a:solidFill>
            <a:srgbClr val="0712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0364" y="1815084"/>
            <a:ext cx="210312" cy="210312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0195560" y="1664208"/>
            <a:ext cx="1353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users</a:t>
            </a:r>
            <a:endParaRPr lang="en-US" sz="1250" dirty="0"/>
          </a:p>
        </p:txBody>
      </p:sp>
      <p:sp>
        <p:nvSpPr>
          <p:cNvPr id="49" name="Shape 42"/>
          <p:cNvSpPr/>
          <p:nvPr/>
        </p:nvSpPr>
        <p:spPr>
          <a:xfrm>
            <a:off x="9646920" y="228600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DDF6F9"/>
          </a:solidFill>
          <a:ln w="12700">
            <a:solidFill>
              <a:srgbClr val="DDF6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9692640" y="22860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9646920" y="2615184"/>
            <a:ext cx="1856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359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contact, administrator and contributors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9646920" y="3218688"/>
            <a:ext cx="1856232" cy="0"/>
          </a:xfrm>
          <a:prstGeom prst="line">
            <a:avLst/>
          </a:prstGeom>
          <a:noFill/>
          <a:ln w="12700">
            <a:solidFill>
              <a:srgbClr val="DD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 txBox="1"/>
          <p:nvPr/>
        </p:nvSpPr>
        <p:spPr>
          <a:xfrm>
            <a:off x="9646920" y="3310128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product data upload with templates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status and filed copies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 on their products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user and project access</a:t>
            </a:r>
            <a:endParaRPr lang="en-US" sz="1150" dirty="0"/>
          </a:p>
        </p:txBody>
      </p:sp>
      <p:sp>
        <p:nvSpPr>
          <p:cNvPr id="54" name="Shape 47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9E7FD"/>
          </a:solidFill>
          <a:ln w="12700">
            <a:solidFill>
              <a:srgbClr val="E9E7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897880"/>
            <a:ext cx="274320" cy="274320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1143000" y="5760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0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every state report is traceable to the price data, the rule version and the reviewer behind it, and a rule change flows through as data.</a:t>
            </a:r>
            <a:endParaRPr lang="en-US" sz="115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73952"/>
            <a:ext cx="667512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3598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xaware Proposal">
  <a:themeElements>
    <a:clrScheme name="Hexaware Proposal">
      <a:dk1>
        <a:srgbClr val="040D43"/>
      </a:dk1>
      <a:lt1>
        <a:srgbClr val="FFFFFF"/>
      </a:lt1>
      <a:dk2>
        <a:srgbClr val="07125E"/>
      </a:dk2>
      <a:lt2>
        <a:srgbClr val="F1F2F8"/>
      </a:lt2>
      <a:accent1>
        <a:srgbClr val="3C2CDA"/>
      </a:accent1>
      <a:accent2>
        <a:srgbClr val="14CBDE"/>
      </a:accent2>
      <a:accent3>
        <a:srgbClr val="F4CB4E"/>
      </a:accent3>
      <a:accent4>
        <a:srgbClr val="535983"/>
      </a:accent4>
      <a:accent5>
        <a:srgbClr val="1FA971"/>
      </a:accent5>
      <a:accent6>
        <a:srgbClr val="E5484D"/>
      </a:accent6>
      <a:hlink>
        <a:srgbClr val="3C2CDA"/>
      </a:hlink>
      <a:folHlink>
        <a:srgbClr val="535983"/>
      </a:folHlink>
    </a:clrScheme>
    <a:fontScheme name="Hexaware Propos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A084171640E245AB836FEB857D8773" ma:contentTypeVersion="3" ma:contentTypeDescription="Create a new document." ma:contentTypeScope="" ma:versionID="7f9688336eb0d02a1cc175ee86765bd8">
  <xsd:schema xmlns:xsd="http://www.w3.org/2001/XMLSchema" xmlns:xs="http://www.w3.org/2001/XMLSchema" xmlns:p="http://schemas.microsoft.com/office/2006/metadata/properties" xmlns:ns2="8927e53b-72d2-4a20-b4f6-8e0c4d418da7" targetNamespace="http://schemas.microsoft.com/office/2006/metadata/properties" ma:root="true" ma:fieldsID="653ba4af5a9af063ffed33fe975c576d" ns2:_="">
    <xsd:import namespace="8927e53b-72d2-4a20-b4f6-8e0c4d418d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27e53b-72d2-4a20-b4f6-8e0c4d418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3275AC-7550-4C2C-8D37-C1B1A379AC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CF8C64-DD0E-4160-BD72-1D1E09772B79}">
  <ds:schemaRefs>
    <ds:schemaRef ds:uri="http://purl.org/dc/dcmitype/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8927e53b-72d2-4a20-b4f6-8e0c4d418d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D4CA6E31-8B1C-42BE-A4E2-AF97E0604A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27e53b-72d2-4a20-b4f6-8e0c4d418d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1269</Words>
  <Application>Microsoft Office PowerPoint</Application>
  <PresentationFormat>Widescreen</PresentationFormat>
  <Paragraphs>246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Hexaware Proposal</vt:lpstr>
      <vt:lpstr>PowerPoint Presentation</vt:lpstr>
      <vt:lpstr>One platform, two subscription modules and a shared core, delivered in 14 months and in three stages of user access</vt:lpstr>
      <vt:lpstr>A modular platform where users, rules and documents meet in one shared core, so each module adds capability without rebuilding it</vt:lpstr>
      <vt:lpstr>State Licensing moves from client request to renewal through nine controlled steps, with every decision traceable</vt:lpstr>
      <vt:lpstr>Each State Licensing user group gets the features that shorten its part of the license lifecycle</vt:lpstr>
      <vt:lpstr>Drug Price Transparency turns client price data into state ready reports, with thresholds applied as dated rules</vt:lpstr>
      <vt:lpstr>Each Drug Price Transparency user group gets the features that make reporting accurate, on time and defensible</vt:lpstr>
    </vt:vector>
  </TitlesOfParts>
  <Company>Hexaware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Labs Compliance Platform: Executive summary</dc:title>
  <dc:subject>PptxGenJS Presentation</dc:subject>
  <dc:creator>Hexaware Technologies</dc:creator>
  <cp:lastModifiedBy>Mahalakshmi Varadhan</cp:lastModifiedBy>
  <cp:revision>3</cp:revision>
  <dcterms:created xsi:type="dcterms:W3CDTF">2026-10-05T16:16:56Z</dcterms:created>
  <dcterms:modified xsi:type="dcterms:W3CDTF">2026-10-08T14:46:08Z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0x01010016A084171640E245AB836FEB857D8773</vt:lpwstr>
  </property>
</Properties>
</file>