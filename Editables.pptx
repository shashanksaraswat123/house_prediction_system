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6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1EE8F-D035-234F-8AA7-87272462E906}" v="5" dt="2026-10-12T11:10:38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dan Singh" userId="331f635f-f040-4632-acb8-b13c92e30366" providerId="ADAL" clId="{C35B59AD-8A21-5390-9216-35E404AFF960}"/>
    <pc:docChg chg="custSel addSld delSld modSld">
      <pc:chgData name="Kundan Singh" userId="331f635f-f040-4632-acb8-b13c92e30366" providerId="ADAL" clId="{C35B59AD-8A21-5390-9216-35E404AFF960}" dt="2026-10-12T11:42:55.260" v="123" actId="1037"/>
      <pc:docMkLst>
        <pc:docMk/>
      </pc:docMkLst>
      <pc:sldChg chg="modSp add mod">
        <pc:chgData name="Kundan Singh" userId="331f635f-f040-4632-acb8-b13c92e30366" providerId="ADAL" clId="{C35B59AD-8A21-5390-9216-35E404AFF960}" dt="2026-10-12T11:42:55.260" v="123" actId="1037"/>
        <pc:sldMkLst>
          <pc:docMk/>
          <pc:sldMk cId="0" sldId="256"/>
        </pc:sldMkLst>
        <pc:spChg chg="mod">
          <ac:chgData name="Kundan Singh" userId="331f635f-f040-4632-acb8-b13c92e30366" providerId="ADAL" clId="{C35B59AD-8A21-5390-9216-35E404AFF960}" dt="2026-10-12T11:42:05.922" v="96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0:40.683" v="7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05.922" v="96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0:36.287" v="6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05.922" v="96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0:45.110" v="83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23.574" v="9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41.339" v="107" actId="103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05.922" v="96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55.260" v="123" actId="103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2:30.992" v="100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Kundan Singh" userId="331f635f-f040-4632-acb8-b13c92e30366" providerId="ADAL" clId="{C35B59AD-8A21-5390-9216-35E404AFF960}" dt="2026-10-12T11:40:24.847" v="40" actId="1037"/>
          <ac:spMkLst>
            <pc:docMk/>
            <pc:sldMk cId="0" sldId="256"/>
            <ac:spMk id="15" creationId="{00000000-0000-0000-0000-000000000000}"/>
          </ac:spMkLst>
        </pc:spChg>
      </pc:sldChg>
      <pc:sldChg chg="delSp new del mod">
        <pc:chgData name="Kundan Singh" userId="331f635f-f040-4632-acb8-b13c92e30366" providerId="ADAL" clId="{C35B59AD-8A21-5390-9216-35E404AFF960}" dt="2026-10-12T00:03:57.945" v="3" actId="2696"/>
        <pc:sldMkLst>
          <pc:docMk/>
          <pc:sldMk cId="3004378500" sldId="256"/>
        </pc:sldMkLst>
        <pc:spChg chg="del">
          <ac:chgData name="Kundan Singh" userId="331f635f-f040-4632-acb8-b13c92e30366" providerId="ADAL" clId="{C35B59AD-8A21-5390-9216-35E404AFF960}" dt="2026-10-12T00:03:05.638" v="1" actId="478"/>
          <ac:spMkLst>
            <pc:docMk/>
            <pc:sldMk cId="3004378500" sldId="256"/>
            <ac:spMk id="2" creationId="{98E1D14F-51F3-CFEF-5A6A-4DB2732B1F38}"/>
          </ac:spMkLst>
        </pc:spChg>
        <pc:spChg chg="del">
          <ac:chgData name="Kundan Singh" userId="331f635f-f040-4632-acb8-b13c92e30366" providerId="ADAL" clId="{C35B59AD-8A21-5390-9216-35E404AFF960}" dt="2026-10-12T00:03:05.638" v="1" actId="478"/>
          <ac:spMkLst>
            <pc:docMk/>
            <pc:sldMk cId="3004378500" sldId="256"/>
            <ac:spMk id="3" creationId="{C3F4FD2A-8A0B-EB57-2D79-9FC226F25538}"/>
          </ac:spMkLst>
        </pc:spChg>
      </pc:sldChg>
      <pc:sldChg chg="addSp modSp add">
        <pc:chgData name="Kundan Singh" userId="331f635f-f040-4632-acb8-b13c92e30366" providerId="ADAL" clId="{C35B59AD-8A21-5390-9216-35E404AFF960}" dt="2026-10-12T11:09:56.721" v="5"/>
        <pc:sldMkLst>
          <pc:docMk/>
          <pc:sldMk cId="0" sldId="257"/>
        </pc:sldMkLst>
        <pc:picChg chg="add mod">
          <ac:chgData name="Kundan Singh" userId="331f635f-f040-4632-acb8-b13c92e30366" providerId="ADAL" clId="{C35B59AD-8A21-5390-9216-35E404AFF960}" dt="2026-10-12T11:09:56.721" v="5"/>
          <ac:picMkLst>
            <pc:docMk/>
            <pc:sldMk cId="0" sldId="257"/>
            <ac:picMk id="18" creationId="{7BE0F640-9AC1-D470-4F76-0406262208ED}"/>
          </ac:picMkLst>
        </pc:picChg>
      </pc:sldChg>
      <pc:sldChg chg="add">
        <pc:chgData name="Kundan Singh" userId="331f635f-f040-4632-acb8-b13c92e30366" providerId="ADAL" clId="{C35B59AD-8A21-5390-9216-35E404AFF960}" dt="2026-10-12T11:10:38.447" v="7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103B-E3A5-268A-EDFB-DC072C6E7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8AE99-AAC1-0F4A-0035-793286C1F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3424B-84EF-6DF4-A43B-FB30E540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7A59E-6E74-BACD-EC5E-E77D74D8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F9ED-D772-0E64-49B5-670EC4CA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2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3F13-2EDB-CCBD-6259-CDF66295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33A3-0A0A-B63B-8A2D-5BF093833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0597-C099-8350-8486-51E9A960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3A9BF-52A7-32C6-BE5C-47225783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D10FB-9245-7CE5-441A-9906B25C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3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7CBB-DBF3-7EF4-9EC4-1C30599F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2502F-1533-3B9E-F076-08FBAA1F6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975F8-DC95-321A-5F19-00B8E681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2EF74-6871-DBB8-1837-D4DECE4A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1EF59-26BD-6688-6AC6-B5D83BAF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9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DA24-A36C-BE5E-A2CA-0699EB8D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ADA7-E96B-B371-30A2-F713DE410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E9F1B-CC0E-0EAC-C981-D6ECEA343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DF00C-BDB0-B0D0-9DD3-9C3D42CD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CF458-0AB2-3D68-F2CD-4B3D2890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33808-0ABA-7694-B196-43D6B382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E0CD-5A5F-0F5E-31FC-E0F5B80A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1B48C-892B-AA6F-4733-C1AC43D97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D976C-C807-30DB-6236-A68CEECE8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F32CD-EE79-2518-3B71-09EEEA936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6D019-E891-A5D6-BDF9-B623916A5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B85DE-5499-B754-7FF2-0D01DCA9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1C4839-7D2A-EF5A-D696-A015A063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E844B-28D1-5085-C8E2-56638883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1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C073-37A2-7C5B-3D19-B1998EA1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2B361-AE23-B5DC-2966-A072D5C8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B8E3B-D93F-F517-5F2B-F5966985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75EF3-E16D-DDCD-6E9F-77A5F2E1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3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B29F4-C78C-C243-A2DE-A0E4D444D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845C98-F4FC-2D25-B9BB-24A4BB70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CF19-EA8C-1594-A8F1-1F63D03C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78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E032-1C48-8322-0EFD-88A677EB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21C4-DE3F-67ED-340D-0E0D836EE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28992-84EE-4258-86E5-ED55C5021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26C69-4211-83C7-7302-122048CC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F339D-CDF5-2169-647D-FEAF1437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9108F-C5CC-E48D-8B85-0F1467E7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2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A74A-2DF5-F789-636E-1EA86212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9FECF-FD0C-24C1-B587-A96252B6755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A061E-9EFC-681D-B265-89608771D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EE2C7-1B2A-F939-A466-D21D41FA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E336D-F567-3E5B-F4A4-F0F06767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27D62-4566-4B8E-8085-F306778E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2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AC905-BC75-6CA9-98B8-22E1CC07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7EFF8-1800-63E4-B7EF-334415CE1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F8CC5-AE75-8D53-1316-A018BED0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C89CE-9CA9-7611-0D14-43F4308F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12655-4BF9-5CE4-71F7-CE5B3299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3E0C9-174E-B25B-E34E-6C8476A8A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30F84-2CC7-A3CE-6D25-F0C096E9F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8D6C8-1C03-F57A-B16D-55BBB9E8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A1C3-36ED-A4E8-25F3-7E0D4F7E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27866-D3EB-2BE0-840F-04C8C659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6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0BBC7-B0E4-A28A-3A49-59A8F2B5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0FE9B-3EBF-459E-B3C9-B891A1B43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8F8D1-CBDD-C29E-A4CF-31CE425AC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ED604-D1C2-7B44-8134-9CB77B0A58E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EB61-478D-DA9B-E4BC-EA9203406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86337-B8F3-782F-55A1-5522B577B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106C4-4EAE-9C4F-9F9C-4EA601D40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0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Two Labs Compliance Platform — High-Level System Boundary &amp; Context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System Boundary Integration Topography showing Federated Identity, Inbound Feeds, Automated Web Scraping, and Outbound Reporting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75150" y="2377440"/>
            <a:ext cx="3840480" cy="2103120"/>
          </a:xfrm>
          <a:prstGeom prst="roundRect">
            <a:avLst/>
          </a:prstGeom>
          <a:solidFill>
            <a:srgbClr val="0F2744"/>
          </a:solidFill>
          <a:ln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62983" y="2744796"/>
            <a:ext cx="3566160" cy="1066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rPr sz="1100" dirty="0"/>
              <a:t>REGULATORY OPERATIONS PLATFORM</a:t>
            </a:r>
          </a:p>
          <a:p>
            <a:pPr>
              <a:defRPr sz="780">
                <a:solidFill>
                  <a:srgbClr val="FFFFFF"/>
                </a:solidFill>
              </a:defRPr>
            </a:pPr>
            <a:r>
              <a:rPr sz="1100" dirty="0"/>
              <a:t>• Unified Core Business Intelligence Engine</a:t>
            </a:r>
          </a:p>
          <a:p>
            <a:pPr>
              <a:defRPr sz="780">
                <a:solidFill>
                  <a:srgbClr val="FFFFFF"/>
                </a:solidFill>
              </a:defRPr>
            </a:pPr>
            <a:r>
              <a:rPr sz="1100" dirty="0"/>
              <a:t>• State Licensing (SL) Dynamic Rules Processing</a:t>
            </a:r>
          </a:p>
          <a:p>
            <a:pPr>
              <a:defRPr sz="780">
                <a:solidFill>
                  <a:srgbClr val="FFFFFF"/>
                </a:solidFill>
              </a:defRPr>
            </a:pPr>
            <a:r>
              <a:rPr sz="1100" dirty="0"/>
              <a:t>• Drug Price Transparency (DPT) Calculations</a:t>
            </a:r>
          </a:p>
          <a:p>
            <a:pPr>
              <a:defRPr sz="780">
                <a:solidFill>
                  <a:srgbClr val="FFFFFF"/>
                </a:solidFill>
              </a:defRPr>
            </a:pPr>
            <a:r>
              <a:rPr sz="1100" dirty="0"/>
              <a:t>• Multi-Tenant Logical Row-Level Security (RLS)</a:t>
            </a:r>
          </a:p>
          <a:p>
            <a:pPr>
              <a:defRPr sz="780">
                <a:solidFill>
                  <a:srgbClr val="FFFFFF"/>
                </a:solidFill>
              </a:defRPr>
            </a:pPr>
            <a:r>
              <a:rPr sz="1100" dirty="0"/>
              <a:t>• Immutable Platform History &amp; Audit Logging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5150" y="914400"/>
            <a:ext cx="384048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84878" y="987552"/>
            <a:ext cx="3730752" cy="884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7E22CE"/>
                </a:solidFill>
              </a:defRPr>
            </a:pPr>
            <a:r>
              <a:rPr sz="1100" dirty="0">
                <a:solidFill>
                  <a:srgbClr val="2463EC"/>
                </a:solidFill>
              </a:rPr>
              <a:t>ENTERPRISE IDENTITY PROVIDERS (IDP)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SAML 2.0 &amp; OpenID Connect (OIDC) authentication integrations.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Okta, Microsoft Entra ID (Azure AD), and Ping Federated SSO.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Local multi-factor authentication (MFA) with TOTP/SMS resets.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3200400" cy="2377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1286" y="2610108"/>
            <a:ext cx="2980944" cy="1223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2563EB"/>
                </a:solidFill>
              </a:defRPr>
            </a:pPr>
            <a:r>
              <a:rPr sz="1100" dirty="0"/>
              <a:t>STATE BOARDS &amp; AGENCIES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Automatic State Board of Pharmacy web scraping &amp; sweeps for license active status verification.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Automated monthly PDF/Word form layout mapping &amp; version checks.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Direct links to 21+ state DPT submission channels and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42655" y="2240280"/>
            <a:ext cx="3200400" cy="2377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9543" y="2680134"/>
            <a:ext cx="2980944" cy="1223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DC2626"/>
                </a:solidFill>
              </a:defRPr>
            </a:pPr>
            <a:r>
              <a:rPr sz="1100" dirty="0">
                <a:solidFill>
                  <a:srgbClr val="2463EC"/>
                </a:solidFill>
              </a:rPr>
              <a:t>MEDI-SPAN &amp; REFERENCE DATA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Inbound standardized Medi-Span WAC drug pricing history compendia feeds.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Commercial legislative tracking service API for pending bills and statute status changes.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Archived historical 21-state rules matrices for retroactive lookup audits.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5150" y="4846320"/>
            <a:ext cx="384048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84878" y="4919472"/>
            <a:ext cx="3621024" cy="1223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rPr sz="1100" dirty="0">
                <a:solidFill>
                  <a:srgbClr val="2463EC"/>
                </a:solidFill>
              </a:rPr>
              <a:t>DASHBOARDS, REPORTS &amp; OUTBOUND APIS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Client Portal real-time dashboard status monitoring.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Dual-Format submittable state report downloads (PDF &amp; editable Excel).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Shared Customer Master API endpoint synchronizations.</a:t>
            </a:r>
          </a:p>
          <a:p>
            <a:pPr>
              <a:defRPr sz="760">
                <a:solidFill>
                  <a:srgbClr val="334155"/>
                </a:solidFill>
              </a:defRPr>
            </a:pPr>
            <a:r>
              <a:rPr sz="1100" dirty="0"/>
              <a:t>• SMTP/Transactional email delivery for 60-day DPT advance notice triggers.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12510" y="2066543"/>
            <a:ext cx="365760" cy="256032"/>
          </a:xfrm>
          <a:prstGeom prst="downArrow">
            <a:avLst/>
          </a:prstGeom>
          <a:solidFill>
            <a:srgbClr val="246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3809390" y="3291840"/>
            <a:ext cx="310896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 Arrow 14"/>
          <p:cNvSpPr/>
          <p:nvPr/>
        </p:nvSpPr>
        <p:spPr>
          <a:xfrm>
            <a:off x="3809390" y="3520440"/>
            <a:ext cx="310896" cy="182880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eft Arrow 15"/>
          <p:cNvSpPr/>
          <p:nvPr/>
        </p:nvSpPr>
        <p:spPr>
          <a:xfrm>
            <a:off x="8076895" y="3337560"/>
            <a:ext cx="310896" cy="182880"/>
          </a:xfrm>
          <a:prstGeom prst="leftArrow">
            <a:avLst/>
          </a:prstGeom>
          <a:solidFill>
            <a:srgbClr val="246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5912510" y="4535424"/>
            <a:ext cx="365760" cy="256032"/>
          </a:xfrm>
          <a:prstGeom prst="downArrow">
            <a:avLst/>
          </a:prstGeom>
          <a:solidFill>
            <a:srgbClr val="246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Two Labs State Licensing Module — Target SaaS Architecture &amp; Operational Workflow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Envision Pharma Group | Modular Multi-Tenant SaaS Design, Microservices Mapping &amp; Operational Feedback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41248"/>
            <a:ext cx="11094415" cy="621792"/>
          </a:xfrm>
          <a:prstGeom prst="roundRect">
            <a:avLst/>
          </a:prstGeom>
          <a:solidFill>
            <a:srgbClr val="0F2744"/>
          </a:solidFill>
          <a:ln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950" b="1">
                <a:solidFill>
                  <a:srgbClr val="93C5FD"/>
                </a:solidFill>
              </a:defRPr>
            </a:pPr>
            <a:r>
              <a:rPr sz="1100">
                <a:solidFill>
                  <a:schemeClr val="bg1"/>
                </a:solidFill>
              </a:rPr>
              <a:t>CORE SAAS PLATFORM INFRASTRUCTURE, DATA PROTECTION &amp; AUDIT TIER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rPr sz="1100">
                <a:solidFill>
                  <a:schemeClr val="bg1"/>
                </a:solidFill>
              </a:rPr>
              <a:t>• Multi-Tenant RLS &amp; Isolation (NFR-010, NFR-C-005)   |   • RBAC &amp; Client IdP SSO (SH-03, NFR-008/009)   |   • State Portal Credential Vault (SL-DR-013, NFR-011)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• Immutable Company Audit Trail (SL-12, NFR-011)   |   • Proactive Notification Engine (SH-06, SH-FR-022)   |   • Separate Module Subscriptions (SH-01, SH-FR-001)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7"/>
            <a:ext cx="3492000" cy="208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3319272" cy="1933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en-US" sz="850" dirty="0"/>
              <a:t>            </a:t>
            </a:r>
            <a:r>
              <a:rPr sz="850" dirty="0"/>
              <a:t>STAGE 1: CLIENT ONBOARDING &amp; INTAKE</a:t>
            </a:r>
          </a:p>
          <a:p>
            <a:pPr>
              <a:spcAft>
                <a:spcPts val="300"/>
              </a:spcAft>
              <a:defRPr sz="750" b="1">
                <a:solidFill>
                  <a:srgbClr val="64748B"/>
                </a:solidFill>
              </a:defRPr>
            </a:pPr>
            <a:r>
              <a:rPr sz="850" dirty="0"/>
              <a:t>SL-01, SL-02 | Client &amp; Legal Setup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Operational Workflow Process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Establish Client Account, Legal Entities (incl. multi-tier ownership) &amp; Project.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Complete Conditional Intake Questionnaire (Facilities, CMOs, 3PLs, Officers).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System Validation: 10-Yr Officer Address Check &amp; exactly 1 Auth / 1 </a:t>
            </a:r>
            <a:r>
              <a:rPr sz="850" dirty="0" err="1"/>
              <a:t>Desig</a:t>
            </a:r>
            <a:r>
              <a:rPr sz="850" dirty="0"/>
              <a:t> Rep.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Client submits &amp; locks intake (staff override/unlock enabled per SL-FR-014/015).</a:t>
            </a:r>
          </a:p>
          <a:p>
            <a:pPr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SaaS Technical Components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Client &amp; Entity Master Service (SL-FR-001–008, SL-DR-001, Multi-tier parents)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77055"/>
            <a:ext cx="3492000" cy="208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950208"/>
            <a:ext cx="3209544" cy="1933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en-US" sz="850" dirty="0"/>
              <a:t>          </a:t>
            </a:r>
            <a:r>
              <a:rPr sz="850" dirty="0"/>
              <a:t>STAGE 2: DETERMINATION &amp; RULES EVALUATION</a:t>
            </a:r>
          </a:p>
          <a:p>
            <a:pPr>
              <a:spcAft>
                <a:spcPts val="300"/>
              </a:spcAft>
              <a:defRPr sz="750" b="1">
                <a:solidFill>
                  <a:srgbClr val="64748B"/>
                </a:solidFill>
              </a:defRPr>
            </a:pPr>
            <a:r>
              <a:rPr sz="850" dirty="0"/>
              <a:t>SL-03 | Dynamic Rules Engine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Operational Workflow Process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Evaluate client distribution model (virtual vs. physical), home state, &amp; traits.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Cross-reference CMO/3PL facility licenses &amp; statutory state prerequisites.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Auto-generate recommended State Filing Plan (licenses &amp; forms) and Doc Checklist.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Analyst Review &amp; Override Console: licensing staff review/amend prior to release.</a:t>
            </a:r>
          </a:p>
          <a:p>
            <a:pPr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SaaS Technical Components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License &amp; Form Determination Engine (SL-FR-019, SL-FR-020, SL-DR-005)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7"/>
            <a:ext cx="3492000" cy="208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9704" y="1645920"/>
            <a:ext cx="3429000" cy="1933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en-US" sz="850" dirty="0"/>
              <a:t>          </a:t>
            </a:r>
            <a:r>
              <a:rPr sz="850" dirty="0"/>
              <a:t>STAGE 3: DOCUMENT COLLECTION &amp; CHECKLIST</a:t>
            </a:r>
          </a:p>
          <a:p>
            <a:pPr>
              <a:spcAft>
                <a:spcPts val="300"/>
              </a:spcAft>
              <a:defRPr sz="750" b="1">
                <a:solidFill>
                  <a:srgbClr val="64748B"/>
                </a:solidFill>
              </a:defRPr>
            </a:pPr>
            <a:r>
              <a:rPr sz="850" dirty="0"/>
              <a:t>SL-04 | Document Ops &amp; Auto-Placement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Operational Workflow Process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Generate project-specific document checklist (corporate filings, fingerprints, leases).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Support bulk untagged file upload without manual pre-naming (SL-FR-029).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Intelligent parsing &amp; automatic placement against matching checklist requirements.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Track document validity periods &amp; auto-flag expiring documentation (SL-DR-010).</a:t>
            </a:r>
          </a:p>
          <a:p>
            <a:pPr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SaaS Technical Components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Document Checklist &amp; Progress Tracker Service (SL-FR-024–028, SL-DR-007)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877055"/>
            <a:ext cx="3492000" cy="208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4308" y="3916755"/>
            <a:ext cx="3209544" cy="2064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en-US" sz="850" dirty="0"/>
              <a:t>           </a:t>
            </a:r>
            <a:r>
              <a:rPr sz="850" dirty="0"/>
              <a:t>STAGE 4: FORM MAPPING &amp; DOCUMENT ASSEMBLY</a:t>
            </a:r>
          </a:p>
          <a:p>
            <a:pPr>
              <a:spcAft>
                <a:spcPts val="300"/>
              </a:spcAft>
              <a:defRPr sz="750" b="1">
                <a:solidFill>
                  <a:srgbClr val="64748B"/>
                </a:solidFill>
              </a:defRPr>
            </a:pPr>
            <a:r>
              <a:rPr sz="850" dirty="0"/>
              <a:t>SL-05 | Document Assembly Engine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Operational Workflow Process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Map verified intake fields directly onto state-published Board application forms.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Auto-format data: 2-letter state </a:t>
            </a:r>
            <a:r>
              <a:rPr sz="850" dirty="0" err="1"/>
              <a:t>abbrv</a:t>
            </a:r>
            <a:r>
              <a:rPr sz="850" dirty="0"/>
              <a:t>, font auto-fit, &amp; overflow sheet generation.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Generate supplementary attachments (officer rosters, operations descriptions).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Licensing Analyst quality control verification prior to client review release.</a:t>
            </a:r>
          </a:p>
          <a:p>
            <a:pPr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SaaS Technical Components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State Form Template &amp; Field Mapping Engine (SL-FR-031, SL-FR-037, SL-DR-008)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033/034)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572767"/>
            <a:ext cx="3492000" cy="208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8107" y="1580517"/>
            <a:ext cx="3429000" cy="2064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rPr lang="en-US" sz="850" dirty="0"/>
              <a:t>                 </a:t>
            </a:r>
            <a:r>
              <a:rPr sz="850" dirty="0"/>
              <a:t>STAGE 5: CLIENT REVIEW, APPROVAL &amp; EXPORT</a:t>
            </a:r>
          </a:p>
          <a:p>
            <a:pPr>
              <a:spcAft>
                <a:spcPts val="300"/>
              </a:spcAft>
              <a:defRPr sz="750" b="1">
                <a:solidFill>
                  <a:srgbClr val="64748B"/>
                </a:solidFill>
              </a:defRPr>
            </a:pPr>
            <a:r>
              <a:rPr sz="850" dirty="0"/>
              <a:t>SL-06, SL-07 | Client Self-Service Gateway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Operational Workflow Process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Client accesses prepared packages via secure portal; reviews mapped forms &amp; exhibits.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Client sets status: 'Approved' or 'Needs Revision' with inline discussion comments.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Version control retains prior package iterations &amp; full discussion history.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Download finalized packages for signature, notarization, or state portal submission.</a:t>
            </a:r>
          </a:p>
          <a:p>
            <a:pPr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SaaS Technical Components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Client Review Gateway &amp; Discussion Log (SL-FR-039–043, SL-DR-009, SL-12)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Secure Document Export &amp; Package Download Service (SL-FR-040, SL-FR-044)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77055"/>
            <a:ext cx="3492000" cy="21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9369" y="3883302"/>
            <a:ext cx="3429000" cy="1933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rPr lang="en-US" sz="850" dirty="0"/>
              <a:t>               </a:t>
            </a:r>
            <a:r>
              <a:rPr sz="850" dirty="0"/>
              <a:t>STAGE 6: LIFECYCLE, SWEEPS &amp; RENEWAL NET</a:t>
            </a:r>
          </a:p>
          <a:p>
            <a:pPr>
              <a:spcAft>
                <a:spcPts val="300"/>
              </a:spcAft>
              <a:defRPr sz="750" b="1">
                <a:solidFill>
                  <a:srgbClr val="64748B"/>
                </a:solidFill>
              </a:defRPr>
            </a:pPr>
            <a:r>
              <a:rPr sz="850" dirty="0"/>
              <a:t>SL-08, SL-10, SL-11 | Active Operations</a:t>
            </a:r>
          </a:p>
          <a:p>
            <a:pPr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Operational Workflow Process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Track milestone dates (Sent to State, Signature, Received, Issued) &amp; credentials.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Manage State Deficiencies &amp; archive state correspondence until resolution.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Automated/on-demand sweeps against Board of Pharmacy verification portals.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Renewal Safety Net: System guarantees next renewal task upon issuance (zero loss).</a:t>
            </a:r>
          </a:p>
          <a:p>
            <a:pPr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rPr sz="850" dirty="0"/>
              <a:t>[ SaaS Technical Components ]</a:t>
            </a:r>
          </a:p>
          <a:p>
            <a:pPr>
              <a:defRPr sz="780">
                <a:solidFill>
                  <a:srgbClr val="334155"/>
                </a:solidFill>
              </a:defRPr>
            </a:pPr>
            <a:r>
              <a:rPr sz="850" dirty="0"/>
              <a:t>• License Lifecycle &amp; Task Orchestrator (SL-FR-049–054, SL-DR-011, ~10k licenses)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148840" y="3648456"/>
            <a:ext cx="219456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005072" y="2514600"/>
            <a:ext cx="34747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989320" y="3648456"/>
            <a:ext cx="219456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836408" y="2514600"/>
            <a:ext cx="347472" cy="20116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820656" y="3648456"/>
            <a:ext cx="219456" cy="201168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6053328"/>
            <a:ext cx="11094415" cy="502920"/>
          </a:xfrm>
          <a:prstGeom prst="roundRect">
            <a:avLst/>
          </a:prstGeom>
          <a:solidFill>
            <a:srgbClr val="0F2744"/>
          </a:solidFill>
          <a:ln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100" b="1" dirty="0">
                <a:solidFill>
                  <a:schemeClr val="bg1"/>
                </a:solidFill>
              </a:rPr>
              <a:t>↺  SL-09: LICENCE CHANGE PROCESSING FEEDBACK LOOP (CLOSED-LOOP ORCHESTRATION)</a:t>
            </a:r>
          </a:p>
          <a:p>
            <a:pPr algn="ctr"/>
            <a:r>
              <a:rPr sz="1100" b="1" dirty="0">
                <a:solidFill>
                  <a:schemeClr val="bg1"/>
                </a:solidFill>
              </a:rPr>
              <a:t>Triggered by Corporate Structure Changes, Relocations, Acquisitions, or Officer Amendments. The engine re-evaluates requirements ONLY for affected states (SL-FR-059–062), carries forward unchanged intake data, and re-triggers Stage 2 Determination without restarting from Stage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Two Labs Drug Price Transparency (DPT) Module — SaaS Architecture &amp; Workflow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Envision Pharma Group | Effective-Dated Evaluation, Dynamic Recalculation &amp; Submittable Report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04672"/>
            <a:ext cx="11094415" cy="594360"/>
          </a:xfrm>
          <a:prstGeom prst="roundRect">
            <a:avLst/>
          </a:prstGeom>
          <a:solidFill>
            <a:srgbClr val="002060"/>
          </a:solidFill>
          <a:ln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CORE SAAS PLATFORM INFRASTRUCTURE, CONFIDENTIAL PRICING VAULT </a:t>
            </a:r>
            <a:r>
              <a:rPr lang="en-SG" sz="1100" dirty="0">
                <a:solidFill>
                  <a:schemeClr val="bg1"/>
                </a:solidFill>
              </a:rPr>
              <a:t>&amp; HORIZON SCALING</a:t>
            </a:r>
            <a:endParaRPr sz="1100" dirty="0">
              <a:solidFill>
                <a:schemeClr val="bg1"/>
              </a:solidFill>
            </a:endParaRPr>
          </a:p>
          <a:p>
            <a:pPr>
              <a:defRPr sz="819">
                <a:solidFill>
                  <a:srgbClr val="FFFFFF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• Multi-Tenant Data Isolation &amp; RLS (NFR-010, NFR-C-005)   |   • Confidential Pricing &amp; Trade-Secret Vault (NFR-011, DPT-DR-011)   |   • RBAC &amp; Single Sign-On (SH-03, NFR-008)</a:t>
            </a:r>
            <a:br>
              <a:rPr sz="1100" dirty="0">
                <a:solidFill>
                  <a:schemeClr val="bg1"/>
                </a:solidFill>
              </a:rPr>
            </a:br>
            <a:r>
              <a:rPr sz="1100" dirty="0">
                <a:solidFill>
                  <a:schemeClr val="bg1"/>
                </a:solidFill>
              </a:rPr>
              <a:t>• Legislative Horizon Scanning &amp; Bill Tracker (DPT-10, DPT-FR-066)   |   • Curated Regulatory Intel Subscription (SH-04, SH-05)   |   • Standalone / Managed Entitlement (SH-01, SH-02)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36192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91056"/>
            <a:ext cx="324612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rPr lang="en-US" sz="900" dirty="0"/>
              <a:t>             </a:t>
            </a:r>
            <a:r>
              <a:rPr sz="900" dirty="0"/>
              <a:t>STAGE 1: MASTER DATA &amp; WAC INTAKE</a:t>
            </a:r>
          </a:p>
          <a:p>
            <a:pPr>
              <a:spcAft>
                <a:spcPts val="200"/>
              </a:spcAft>
              <a:defRPr sz="720" b="1">
                <a:solidFill>
                  <a:srgbClr val="64748B"/>
                </a:solidFill>
              </a:defRPr>
            </a:pPr>
            <a:r>
              <a:rPr sz="900" dirty="0"/>
              <a:t>DPT-01 | Foundation &amp; Compendia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rPr sz="900" dirty="0"/>
              <a:t>[ Operational Workflow Process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Register Org, Products &amp; unique NDCs (Branded/Generic/Biosimilar).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Ingest Medi-Span compendia WAC price history (Package &amp; Unit prices).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Record PDUFA target dates &amp; commercial launch timelines.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Strict upload validation (dates, numeric WAC, chronological reprice rules).</a:t>
            </a:r>
          </a:p>
          <a:p>
            <a:pPr>
              <a:spcBef>
                <a:spcPts val="200"/>
              </a:spcBef>
              <a:defRPr sz="800" b="1">
                <a:solidFill>
                  <a:srgbClr val="0F172A"/>
                </a:solidFill>
              </a:defRPr>
            </a:pPr>
            <a:r>
              <a:rPr sz="900" dirty="0"/>
              <a:t>[ SaaS Technical Components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Product &amp; NDC Ingestion Engine (DPT-FR-001..006)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WAC Effective-Dated History Store (DPT-DR-002, DPT-DR-003)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Pre-Launch Correction &amp; Product Archiving (DPT-FR-008/009)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895344"/>
            <a:ext cx="3364992" cy="19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</a:defRPr>
            </a:pPr>
            <a:r>
              <a:rPr lang="en-US" sz="900"/>
              <a:t>        </a:t>
            </a:r>
            <a:r>
              <a:rPr sz="900"/>
              <a:t>STAGE </a:t>
            </a:r>
            <a:r>
              <a:rPr sz="900" dirty="0"/>
              <a:t>2: RULES, OVERRIDES &amp; TRIGGERS</a:t>
            </a:r>
            <a:r>
              <a:rPr lang="en-US" sz="900"/>
              <a:t>.  </a:t>
            </a:r>
            <a:endParaRPr sz="900" dirty="0"/>
          </a:p>
          <a:p>
            <a:pPr>
              <a:spcAft>
                <a:spcPts val="200"/>
              </a:spcAft>
              <a:defRPr sz="720" b="1">
                <a:solidFill>
                  <a:srgbClr val="64748B"/>
                </a:solidFill>
              </a:defRPr>
            </a:pPr>
            <a:r>
              <a:rPr sz="900" dirty="0"/>
              <a:t>DPT-02, DPT-08, DPT-09 | Core Rules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rPr sz="900" dirty="0"/>
              <a:t>[ Operational Workflow Process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Evaluate events across 21+ state statutes &amp; Part D thresholds.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Multi-lookback logic (12m, 24m, 36m, prior year, CA 2yr+1day per FR-014).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Auto-generate triggered filings &amp; 60-day advance notice deadlines.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Formula transparency, manual WAC/date override &amp; instant recalculation (DPT-08).</a:t>
            </a:r>
          </a:p>
          <a:p>
            <a:pPr>
              <a:spcBef>
                <a:spcPts val="200"/>
              </a:spcBef>
              <a:defRPr sz="800" b="1">
                <a:solidFill>
                  <a:srgbClr val="0F172A"/>
                </a:solidFill>
              </a:defRPr>
            </a:pPr>
            <a:r>
              <a:rPr sz="900" dirty="0"/>
              <a:t>[ SaaS Technical Components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Effective-Dated Evaluation Engine (DPT-FR-011..024, DPT-DR-004..006)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State Statutes &amp; Rules Catalogue (DPT-09, DPT-DR-012)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Immutable Override &amp; Dynamic Recalculation Service (DPT-FR-056..060)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36192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71416" y="1591056"/>
            <a:ext cx="3384396" cy="19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lang="en-US" sz="900"/>
              <a:t>         </a:t>
            </a:r>
            <a:r>
              <a:rPr sz="900"/>
              <a:t>STAGE </a:t>
            </a:r>
            <a:r>
              <a:rPr sz="900" dirty="0"/>
              <a:t>3 &amp; 4: SCENARIOS &amp; LOOKBACK</a:t>
            </a:r>
          </a:p>
          <a:p>
            <a:pPr>
              <a:spcAft>
                <a:spcPts val="200"/>
              </a:spcAft>
              <a:defRPr sz="720" b="1">
                <a:solidFill>
                  <a:srgbClr val="64748B"/>
                </a:solidFill>
              </a:defRPr>
            </a:pPr>
            <a:r>
              <a:rPr sz="900" dirty="0"/>
              <a:t>DPT-03, DPT-04 | Sandboxed Intelligence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rPr sz="900" dirty="0"/>
              <a:t>[ Operational Workflow Process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Scenario sandbox: Model proposed %/$ increase without updating WAC.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Calculate max increase avoiding any reports or advance notices.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Model-to-actual rule parity (FR-031) &amp; side-by-side scenario comparison.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Historical Lookback: Reconcile historical Medi-Span WAC against unfiled reports.</a:t>
            </a:r>
          </a:p>
          <a:p>
            <a:pPr>
              <a:spcBef>
                <a:spcPts val="200"/>
              </a:spcBef>
              <a:defRPr sz="800" b="1">
                <a:solidFill>
                  <a:srgbClr val="0F172A"/>
                </a:solidFill>
              </a:defRPr>
            </a:pPr>
            <a:r>
              <a:rPr sz="900" dirty="0"/>
              <a:t>[ SaaS Technical Components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Scenario Headroom Optimization Calculator (DPT-03, DPT-DR-007)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Historical Lookback &amp; Gap Analysis Engine (DPT-04, DPT-DR-008/009)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Time-Correct Effective Rule Application (NFR-003)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6812" y="3895344"/>
            <a:ext cx="3429000" cy="19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rPr lang="en-US" sz="900"/>
              <a:t>          </a:t>
            </a:r>
            <a:r>
              <a:rPr sz="900"/>
              <a:t>STAGE </a:t>
            </a:r>
            <a:r>
              <a:rPr sz="900" dirty="0"/>
              <a:t>5: REPORT DETAILS &amp; TRADE SECRET</a:t>
            </a:r>
          </a:p>
          <a:p>
            <a:pPr>
              <a:spcAft>
                <a:spcPts val="200"/>
              </a:spcAft>
              <a:defRPr sz="720" b="1">
                <a:solidFill>
                  <a:srgbClr val="64748B"/>
                </a:solidFill>
              </a:defRPr>
            </a:pPr>
            <a:r>
              <a:rPr sz="900" dirty="0"/>
              <a:t>DPT-05 | Data Ingestion &amp; Vault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rPr sz="900" dirty="0"/>
              <a:t>[ Operational Workflow Process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Common Data Reuse: Org, NDC &amp; WAC captured ONCE across all filings (FR-038).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Collect report inputs: R&amp;D, manufacturing, marketing costs &amp; rationale.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Missing information completeness tracker &amp; bulk Excel template upload.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Encrypted trade-secret justification binding for protected fields (DR-011).</a:t>
            </a:r>
          </a:p>
          <a:p>
            <a:pPr>
              <a:spcBef>
                <a:spcPts val="200"/>
              </a:spcBef>
              <a:defRPr sz="800" b="1">
                <a:solidFill>
                  <a:srgbClr val="0F172A"/>
                </a:solidFill>
              </a:defRPr>
            </a:pPr>
            <a:r>
              <a:rPr sz="900" dirty="0"/>
              <a:t>[ SaaS Technical Components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Report Detail Collection &amp; Reuse Engine (DPT-FR-037..044, DPT-DR-010)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Trade-Secret Vault &amp; Exemption Binder (DPT-FR-042, DPT-DR-011)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Client/Staff Collaborative Detail Ingest (DPT-FR-043/044)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536192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91056"/>
            <a:ext cx="3364992" cy="18517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rPr lang="en-US" sz="900" dirty="0"/>
              <a:t>       </a:t>
            </a:r>
            <a:r>
              <a:rPr sz="900" dirty="0"/>
              <a:t>STAGE 6: STATE REPORTS &amp; CLIENT REVIEW</a:t>
            </a:r>
          </a:p>
          <a:p>
            <a:pPr>
              <a:spcAft>
                <a:spcPts val="200"/>
              </a:spcAft>
              <a:defRPr sz="720" b="1">
                <a:solidFill>
                  <a:srgbClr val="64748B"/>
                </a:solidFill>
              </a:defRPr>
            </a:pPr>
            <a:r>
              <a:rPr sz="900" dirty="0"/>
              <a:t>DPT-06, OPT-08, DPT-09 | Assembly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rPr sz="900" dirty="0"/>
              <a:t>[ Operational Workflow Process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Auto-generate completed reports in state formats (Excel, CSV, Word, PDF).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Mandatory dual export: Download submittable reports in editable Excel.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Client self-service review portal, comments &amp; report approval (SH-02).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Direct reference links to governing state statute &amp; submission portal.</a:t>
            </a:r>
          </a:p>
          <a:p>
            <a:pPr>
              <a:spcBef>
                <a:spcPts val="200"/>
              </a:spcBef>
              <a:defRPr sz="800" b="1">
                <a:solidFill>
                  <a:srgbClr val="0F172A"/>
                </a:solidFill>
              </a:defRPr>
            </a:pPr>
            <a:r>
              <a:rPr sz="900" dirty="0"/>
              <a:t>[ SaaS Technical Components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State-Ready Report Assembly Engine (DPT-FR-045..048, NFR-006)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Editable Output &amp; Spreadsheet Exporter (DPT-FR-047, NFR-007)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Client Portal Review Gateway &amp; Discussion Log (OPT-08, SH-02)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3895344"/>
            <a:ext cx="3429000" cy="19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CA8A04"/>
                </a:solidFill>
              </a:defRPr>
            </a:pPr>
            <a:r>
              <a:rPr lang="en-US" sz="900" dirty="0"/>
              <a:t>                   </a:t>
            </a:r>
            <a:r>
              <a:rPr sz="900" dirty="0"/>
              <a:t>STAGE 7: FILING LIFECYCLE &amp; CALENDAR</a:t>
            </a:r>
          </a:p>
          <a:p>
            <a:pPr>
              <a:spcAft>
                <a:spcPts val="200"/>
              </a:spcAft>
              <a:defRPr sz="720" b="1">
                <a:solidFill>
                  <a:srgbClr val="64748B"/>
                </a:solidFill>
              </a:defRPr>
            </a:pPr>
            <a:r>
              <a:rPr sz="900" dirty="0"/>
              <a:t>DPT-07 | Compliance Assurance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rPr sz="900" dirty="0"/>
              <a:t>[ Operational Workflow Process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Strict 5-Stage Status: Incomplete &gt; Not Yet Submitted &gt; Submitted &gt; Changes Req &gt; Accepted.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MANDATORY GATE: Attach submission proof before setting 'Submitted' (FR-050).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Filing calendar: Group by this week, next week, month &amp; overdue.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On-time submission metric tracking &amp; audit measurement (FR-054, NFR-019).</a:t>
            </a:r>
          </a:p>
          <a:p>
            <a:pPr>
              <a:spcBef>
                <a:spcPts val="200"/>
              </a:spcBef>
              <a:defRPr sz="800" b="1">
                <a:solidFill>
                  <a:srgbClr val="0F172A"/>
                </a:solidFill>
              </a:defRPr>
            </a:pPr>
            <a:r>
              <a:rPr sz="900" dirty="0"/>
              <a:t>[ SaaS Technical Components ]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Filing Lifecycle &amp; Calendar Orchestrator (DPT-FR-049..054, DPT-DR-006)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Submission Evidence Verification Vault (DPT-FR-050)</a:t>
            </a:r>
          </a:p>
          <a:p>
            <a:pPr>
              <a:defRPr sz="740">
                <a:solidFill>
                  <a:srgbClr val="334155"/>
                </a:solidFill>
              </a:defRPr>
            </a:pPr>
            <a:r>
              <a:rPr sz="900" dirty="0"/>
              <a:t>• Automated Due-Date &amp; 60-Day Reminder Sentinel (SH-06, NFR-018)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148840" y="3675887"/>
            <a:ext cx="219456" cy="164592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005072" y="2514600"/>
            <a:ext cx="347472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5989320" y="3675887"/>
            <a:ext cx="219456" cy="164592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836408" y="2514600"/>
            <a:ext cx="34747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820656" y="3675887"/>
            <a:ext cx="219456" cy="164592"/>
          </a:xfrm>
          <a:prstGeom prst="downArrow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6053328"/>
            <a:ext cx="11094415" cy="502920"/>
          </a:xfrm>
          <a:prstGeom prst="roundRect">
            <a:avLst/>
          </a:prstGeom>
          <a:solidFill>
            <a:srgbClr val="002060"/>
          </a:solidFill>
          <a:ln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↺  DPT-08 DYNAMIC RECALCULATION &amp; CLOSED-LOOP AUDIT TRAIL (TIME-CORRECT RULES EVALUATION)</a:t>
            </a:r>
          </a:p>
          <a:p>
            <a:pPr algn="ctr"/>
            <a:r>
              <a:rPr sz="1100" b="1">
                <a:solidFill>
                  <a:schemeClr val="bg1"/>
                </a:solidFill>
              </a:rPr>
              <a:t>Manual Overrides to WAC or Lookback Dates dynamically trigger recalculation of dependent percentages, triggered reports, and due dates (DPT-FR-057) across Stage 2, preserving prior values side-by-side with immutable audit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A084171640E245AB836FEB857D8773" ma:contentTypeVersion="3" ma:contentTypeDescription="Create a new document." ma:contentTypeScope="" ma:versionID="7f9688336eb0d02a1cc175ee86765bd8">
  <xsd:schema xmlns:xsd="http://www.w3.org/2001/XMLSchema" xmlns:xs="http://www.w3.org/2001/XMLSchema" xmlns:p="http://schemas.microsoft.com/office/2006/metadata/properties" xmlns:ns2="8927e53b-72d2-4a20-b4f6-8e0c4d418da7" targetNamespace="http://schemas.microsoft.com/office/2006/metadata/properties" ma:root="true" ma:fieldsID="653ba4af5a9af063ffed33fe975c576d" ns2:_="">
    <xsd:import namespace="8927e53b-72d2-4a20-b4f6-8e0c4d418d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27e53b-72d2-4a20-b4f6-8e0c4d418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E19857-653E-43B5-A0CD-41ED87F522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C53933-CAEC-4DAE-9032-774DFA6CC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C85BEF-D9D0-43E5-B454-9A0DCF44A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27e53b-72d2-4a20-b4f6-8e0c4d418d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1822</Words>
  <Application>Microsoft Macintosh PowerPoint</Application>
  <PresentationFormat>Widescreen</PresentationFormat>
  <Paragraphs>159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Kundan Singh</dc:creator>
  <cp:lastModifiedBy>Kundan Singh</cp:lastModifiedBy>
  <cp:revision>1</cp:revision>
  <dcterms:created xsi:type="dcterms:W3CDTF">2026-10-12T00:02:55Z</dcterms:created>
  <dcterms:modified xsi:type="dcterms:W3CDTF">2026-10-12T11:42:58Z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0x01010016A084171640E245AB836FEB857D8773</vt:lpwstr>
  </property>
</Properties>
</file>